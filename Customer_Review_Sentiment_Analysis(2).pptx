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3852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template - Minor Project review presentation for B.Tech II year. Replace every placeholder in angle brackets. Title slide: speak for 30 seconds - greet the panel, state the title, introduce the team and the guide. Do not read the slide word for word.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agenda to one slide. In a 10-12 minute review, spend the most time on literature survey, objectives and work completed.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60-90 seconds. Start broad (the domain), end narrow (your specific task). Avoid definitions copied from Wikipedia - the panel will ask for the source.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must be ONE sentence. If you need two sentences, the scope is too wide for a minor project. The panel's first question is usually: who exactly benefits?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aloud. Speak about the trend: what most papers did, what results they reached, and what all of them left unsolved. Row 1 is a worked example - delete it and put your own paper there.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a good review from an average one. State 2-3 gaps only, and make sure each one maps to a paper you listed.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vague verbs - study, understand, analyse. Use build, classify, detect, compare, deploy. Four objectives is the right number for a minor project.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panel through the diagram left to right in under a minute, naming the input and the output first. Be ready to say where your contribution sits.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module per team member works well - it also answers the panel question 'who did what'.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versions where you know them. If you have a GitHub repository, show the link here - it is strong evidence of real 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status. Panels reward accurate self-assessment and penalise claims that fall apart under one question.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 week numbers to your academic calendar. Showing a plan for the remaining weeks is what the panel wants to hear at Review 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introduce anything new here. The conclusion restates the problem, the gap and the promise - nothing else.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Google Scholar's 'Cite' option and pick MLA/IEEE, then fix the formatting by hand. Never cite a blog, a YouTube video or a paper you have not opened.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deck open on the architecture slide during questions - most panel questions point back to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3A"/>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marL="0" indent="0">
              <a:buNone/>
            </a:pPr>
            <a:r>
              <a:rPr lang="en-US" sz="1150" b="1" kern="0" spc="200" dirty="0">
                <a:solidFill>
                  <a:srgbClr val="C8A02C"/>
                </a:solidFill>
                <a:latin typeface="Calibri" pitchFamily="34" charset="0"/>
                <a:ea typeface="Calibri" pitchFamily="34" charset="-122"/>
                <a:cs typeface="Calibri" pitchFamily="34" charset="-120"/>
              </a:rPr>
              <a:t>KL UNIVERSITY  •  BACHUPALLY CAMPUS, HYDERABAD</a:t>
            </a:r>
            <a:endParaRPr lang="en-US" sz="1150" dirty="0"/>
          </a:p>
        </p:txBody>
      </p:sp>
      <p:sp>
        <p:nvSpPr>
          <p:cNvPr id="3" name="Text 1"/>
          <p:cNvSpPr txBox="1"/>
          <p:nvPr/>
        </p:nvSpPr>
        <p:spPr>
          <a:xfrm>
            <a:off x="640080" y="804672"/>
            <a:ext cx="10881360" cy="274320"/>
          </a:xfrm>
          <a:prstGeom prst="rect">
            <a:avLst/>
          </a:prstGeom>
          <a:noFill/>
          <a:ln/>
        </p:spPr>
        <p:txBody>
          <a:bodyPr wrap="square" lIns="0" tIns="0" rIns="0" bIns="0" rtlCol="0" anchor="ctr"/>
          <a:lstStyle/>
          <a:p>
            <a:pPr marL="0" indent="0">
              <a:buNone/>
            </a:pPr>
            <a:r>
              <a:rPr lang="en-US" sz="1300" dirty="0">
                <a:solidFill>
                  <a:srgbClr val="AEBBD6"/>
                </a:solidFill>
                <a:latin typeface="Calibri" pitchFamily="34" charset="0"/>
                <a:ea typeface="Calibri" pitchFamily="34" charset="-122"/>
                <a:cs typeface="Calibri" pitchFamily="34" charset="-120"/>
              </a:rPr>
              <a:t>Department of Computer Science &amp; Engineering</a:t>
            </a:r>
            <a:endParaRPr lang="en-US" sz="1300" dirty="0"/>
          </a:p>
        </p:txBody>
      </p:sp>
      <p:sp>
        <p:nvSpPr>
          <p:cNvPr id="4" name="Text 2"/>
          <p:cNvSpPr txBox="1"/>
          <p:nvPr/>
        </p:nvSpPr>
        <p:spPr>
          <a:xfrm>
            <a:off x="640080" y="1554480"/>
            <a:ext cx="10881360" cy="1005840"/>
          </a:xfrm>
          <a:prstGeom prst="rect">
            <a:avLst/>
          </a:prstGeom>
          <a:noFill/>
          <a:ln/>
        </p:spPr>
        <p:txBody>
          <a:bodyPr wrap="square" lIns="0" tIns="0" rIns="0" bIns="0" rtlCol="0" anchor="ctr"/>
          <a:lstStyle/>
          <a:p>
            <a:r>
              <a:rPr lang="en-US" sz="4000" b="1" dirty="0">
                <a:solidFill>
                  <a:srgbClr val="FFFFFF"/>
                </a:solidFill>
                <a:latin typeface="Cambria" pitchFamily="34" charset="0"/>
                <a:ea typeface="Cambria" pitchFamily="34" charset="-122"/>
                <a:cs typeface="Cambria" pitchFamily="34" charset="-120"/>
              </a:rPr>
              <a:t>Customer Review Sentiment Analysis</a:t>
            </a:r>
            <a:endParaRPr lang="en-US" sz="4000" dirty="0"/>
          </a:p>
          <a:p>
            <a:pPr marL="0" indent="0">
              <a:buNone/>
            </a:pPr>
            <a:endParaRPr lang="en-US" sz="4000" dirty="0"/>
          </a:p>
        </p:txBody>
      </p:sp>
      <p:sp>
        <p:nvSpPr>
          <p:cNvPr id="5" name="Text 3"/>
          <p:cNvSpPr txBox="1"/>
          <p:nvPr/>
        </p:nvSpPr>
        <p:spPr>
          <a:xfrm>
            <a:off x="640080" y="2542032"/>
            <a:ext cx="10881360" cy="274320"/>
          </a:xfrm>
          <a:prstGeom prst="rect">
            <a:avLst/>
          </a:prstGeom>
          <a:noFill/>
          <a:ln/>
        </p:spPr>
        <p:txBody>
          <a:bodyPr wrap="square" lIns="0" tIns="0" rIns="0" bIns="0" rtlCol="0" anchor="ctr"/>
          <a:lstStyle/>
          <a:p>
            <a:pPr marL="0" indent="0">
              <a:buNone/>
            </a:pPr>
            <a:endParaRPr lang="en-US" sz="1250" dirty="0"/>
          </a:p>
        </p:txBody>
      </p:sp>
      <p:sp>
        <p:nvSpPr>
          <p:cNvPr id="6" name="Shape 4"/>
          <p:cNvSpPr/>
          <p:nvPr/>
        </p:nvSpPr>
        <p:spPr>
          <a:xfrm>
            <a:off x="640080" y="3200400"/>
            <a:ext cx="5577840" cy="2148840"/>
          </a:xfrm>
          <a:prstGeom prst="roundRect">
            <a:avLst>
              <a:gd name="adj" fmla="val 3404"/>
            </a:avLst>
          </a:prstGeom>
          <a:solidFill>
            <a:srgbClr val="1B2A55"/>
          </a:solidFill>
          <a:ln w="12700">
            <a:solidFill>
              <a:srgbClr val="2E3F6E"/>
            </a:solidFill>
            <a:prstDash val="solid"/>
          </a:ln>
        </p:spPr>
      </p:sp>
      <p:sp>
        <p:nvSpPr>
          <p:cNvPr id="7" name="Text 5"/>
          <p:cNvSpPr txBox="1"/>
          <p:nvPr/>
        </p:nvSpPr>
        <p:spPr>
          <a:xfrm>
            <a:off x="868680" y="3364992"/>
            <a:ext cx="5120640" cy="256032"/>
          </a:xfrm>
          <a:prstGeom prst="rect">
            <a:avLst/>
          </a:prstGeom>
          <a:noFill/>
          <a:ln/>
        </p:spPr>
        <p:txBody>
          <a:bodyPr wrap="square" lIns="0" tIns="0" rIns="0" bIns="0" rtlCol="0" anchor="ctr"/>
          <a:lstStyle/>
          <a:p>
            <a:pPr marL="0" indent="0">
              <a:buNone/>
            </a:pPr>
            <a:r>
              <a:rPr lang="en-US" sz="1000" b="1" kern="0" spc="150" dirty="0">
                <a:solidFill>
                  <a:srgbClr val="C8A02C"/>
                </a:solidFill>
                <a:latin typeface="Calibri" pitchFamily="34" charset="0"/>
                <a:ea typeface="Calibri" pitchFamily="34" charset="-122"/>
                <a:cs typeface="Calibri" pitchFamily="34" charset="-120"/>
              </a:rPr>
              <a:t>PRESENTED BY</a:t>
            </a:r>
            <a:endParaRPr lang="en-US" sz="1000" dirty="0"/>
          </a:p>
        </p:txBody>
      </p:sp>
      <p:sp>
        <p:nvSpPr>
          <p:cNvPr id="8" name="Text 6"/>
          <p:cNvSpPr txBox="1"/>
          <p:nvPr/>
        </p:nvSpPr>
        <p:spPr>
          <a:xfrm>
            <a:off x="868680" y="3657600"/>
            <a:ext cx="5120640" cy="1554480"/>
          </a:xfrm>
          <a:prstGeom prst="rect">
            <a:avLst/>
          </a:prstGeom>
          <a:noFill/>
          <a:ln/>
        </p:spPr>
        <p:txBody>
          <a:bodyPr wrap="square" lIns="0" tIns="0" rIns="0" bIns="0" rtlCol="0" anchor="ctr"/>
          <a:lstStyle/>
          <a:p>
            <a:pPr marL="0" indent="0">
              <a:lnSpc>
                <a:spcPts val="2400"/>
              </a:lnSpc>
              <a:buNone/>
            </a:pPr>
            <a:r>
              <a:rPr lang="en-US" sz="1450" dirty="0">
                <a:solidFill>
                  <a:srgbClr val="FFFFFF"/>
                </a:solidFill>
                <a:latin typeface="Calibri" pitchFamily="34" charset="0"/>
                <a:ea typeface="Calibri" pitchFamily="34" charset="-122"/>
                <a:cs typeface="Calibri" pitchFamily="34" charset="-120"/>
              </a:rPr>
              <a:t>2520030348 SUGGULA SRI VISHNUPRIYA 	</a:t>
            </a:r>
            <a:endParaRPr lang="en-US" sz="1450" dirty="0"/>
          </a:p>
          <a:p>
            <a:pPr marL="0" indent="0">
              <a:lnSpc>
                <a:spcPts val="2400"/>
              </a:lnSpc>
              <a:buNone/>
            </a:pPr>
            <a:r>
              <a:rPr lang="en-US" sz="1450" dirty="0">
                <a:solidFill>
                  <a:srgbClr val="FFFFFF"/>
                </a:solidFill>
                <a:latin typeface="Calibri" pitchFamily="34" charset="0"/>
                <a:ea typeface="Calibri" pitchFamily="34" charset="-122"/>
                <a:cs typeface="Calibri" pitchFamily="34" charset="-120"/>
              </a:rPr>
              <a:t>2520030298 VUNGARALA MOUKTHIKA</a:t>
            </a:r>
            <a:endParaRPr lang="en-US" sz="1450" dirty="0"/>
          </a:p>
        </p:txBody>
      </p:sp>
      <p:sp>
        <p:nvSpPr>
          <p:cNvPr id="9" name="Shape 7"/>
          <p:cNvSpPr/>
          <p:nvPr/>
        </p:nvSpPr>
        <p:spPr>
          <a:xfrm>
            <a:off x="6492240" y="3200400"/>
            <a:ext cx="5029200" cy="2148840"/>
          </a:xfrm>
          <a:prstGeom prst="roundRect">
            <a:avLst>
              <a:gd name="adj" fmla="val 3404"/>
            </a:avLst>
          </a:prstGeom>
          <a:solidFill>
            <a:srgbClr val="1B2A55"/>
          </a:solidFill>
          <a:ln w="12700">
            <a:solidFill>
              <a:srgbClr val="2E3F6E"/>
            </a:solidFill>
            <a:prstDash val="solid"/>
          </a:ln>
        </p:spPr>
      </p:sp>
      <p:sp>
        <p:nvSpPr>
          <p:cNvPr id="10" name="Text 8"/>
          <p:cNvSpPr txBox="1"/>
          <p:nvPr/>
        </p:nvSpPr>
        <p:spPr>
          <a:xfrm>
            <a:off x="6720840" y="3364992"/>
            <a:ext cx="4572000" cy="256032"/>
          </a:xfrm>
          <a:prstGeom prst="rect">
            <a:avLst/>
          </a:prstGeom>
          <a:noFill/>
          <a:ln/>
        </p:spPr>
        <p:txBody>
          <a:bodyPr wrap="square" lIns="0" tIns="0" rIns="0" bIns="0" rtlCol="0" anchor="ctr"/>
          <a:lstStyle/>
          <a:p>
            <a:pPr marL="0" indent="0">
              <a:buNone/>
            </a:pPr>
            <a:r>
              <a:rPr lang="en-US" sz="1000" b="1" kern="0" spc="150" dirty="0">
                <a:solidFill>
                  <a:srgbClr val="C8A02C"/>
                </a:solidFill>
                <a:latin typeface="Calibri" pitchFamily="34" charset="0"/>
                <a:ea typeface="Calibri" pitchFamily="34" charset="-122"/>
                <a:cs typeface="Calibri" pitchFamily="34" charset="-120"/>
              </a:rPr>
              <a:t>UNDER THE GUIDANCE OF</a:t>
            </a:r>
            <a:endParaRPr lang="en-US" sz="1000" dirty="0"/>
          </a:p>
        </p:txBody>
      </p:sp>
      <p:sp>
        <p:nvSpPr>
          <p:cNvPr id="11" name="Text 9"/>
          <p:cNvSpPr txBox="1"/>
          <p:nvPr/>
        </p:nvSpPr>
        <p:spPr>
          <a:xfrm>
            <a:off x="6720840" y="3703320"/>
            <a:ext cx="4572000" cy="320040"/>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 Mr. </a:t>
            </a:r>
            <a:r>
              <a:rPr lang="en-US" sz="1600" dirty="0" err="1">
                <a:solidFill>
                  <a:schemeClr val="bg1"/>
                </a:solidFill>
                <a:latin typeface="Calibri" pitchFamily="34" charset="0"/>
                <a:ea typeface="Calibri" pitchFamily="34" charset="-122"/>
                <a:cs typeface="Calibri" pitchFamily="34" charset="-120"/>
              </a:rPr>
              <a:t>Gunturi</a:t>
            </a:r>
            <a:r>
              <a:rPr lang="en-US" sz="1600" dirty="0">
                <a:solidFill>
                  <a:schemeClr val="bg1"/>
                </a:solidFill>
                <a:latin typeface="Calibri" pitchFamily="34" charset="0"/>
                <a:ea typeface="Calibri" pitchFamily="34" charset="-122"/>
                <a:cs typeface="Calibri" pitchFamily="34" charset="-120"/>
              </a:rPr>
              <a:t> S Raghavendra</a:t>
            </a:r>
            <a:endParaRPr lang="en-US" sz="1600" dirty="0">
              <a:solidFill>
                <a:schemeClr val="bg1"/>
              </a:solidFill>
            </a:endParaRPr>
          </a:p>
        </p:txBody>
      </p:sp>
      <p:sp>
        <p:nvSpPr>
          <p:cNvPr id="12" name="Text 10"/>
          <p:cNvSpPr txBox="1"/>
          <p:nvPr/>
        </p:nvSpPr>
        <p:spPr>
          <a:xfrm>
            <a:off x="6720840" y="4069080"/>
            <a:ext cx="4572000" cy="640080"/>
          </a:xfrm>
          <a:prstGeom prst="rect">
            <a:avLst/>
          </a:prstGeom>
          <a:noFill/>
          <a:ln/>
        </p:spPr>
        <p:txBody>
          <a:bodyPr wrap="square" lIns="0" tIns="0" rIns="0" bIns="0" rtlCol="0" anchor="ctr"/>
          <a:lstStyle/>
          <a:p>
            <a:pPr marL="0" indent="0">
              <a:buNone/>
            </a:pPr>
            <a:r>
              <a:rPr lang="en-US" sz="1300" dirty="0">
                <a:solidFill>
                  <a:srgbClr val="AEBBD6"/>
                </a:solidFill>
                <a:latin typeface="Calibri" pitchFamily="34" charset="0"/>
                <a:ea typeface="Calibri" pitchFamily="34" charset="-122"/>
                <a:cs typeface="Calibri" pitchFamily="34" charset="-120"/>
              </a:rPr>
              <a:t>Designation, Department of CSE</a:t>
            </a:r>
            <a:endParaRPr lang="en-US" sz="1300" dirty="0"/>
          </a:p>
          <a:p>
            <a:pPr marL="0" indent="0">
              <a:buNone/>
            </a:pPr>
            <a:r>
              <a:rPr lang="en-US" sz="1300" dirty="0">
                <a:solidFill>
                  <a:srgbClr val="AEBBD6"/>
                </a:solidFill>
                <a:latin typeface="Calibri" pitchFamily="34" charset="0"/>
                <a:ea typeface="Calibri" pitchFamily="34" charset="-122"/>
                <a:cs typeface="Calibri" pitchFamily="34" charset="-120"/>
              </a:rPr>
              <a:t>KLH Bachupally Campus</a:t>
            </a:r>
            <a:endParaRPr lang="en-US" sz="1300" dirty="0"/>
          </a:p>
        </p:txBody>
      </p:sp>
      <p:sp>
        <p:nvSpPr>
          <p:cNvPr id="13" name="Text 11"/>
          <p:cNvSpPr txBox="1"/>
          <p:nvPr/>
        </p:nvSpPr>
        <p:spPr>
          <a:xfrm>
            <a:off x="640080" y="5806440"/>
            <a:ext cx="10881360" cy="274320"/>
          </a:xfrm>
          <a:prstGeom prst="rect">
            <a:avLst/>
          </a:prstGeom>
          <a:noFill/>
          <a:ln/>
        </p:spPr>
        <p:txBody>
          <a:bodyPr wrap="square" lIns="0" tIns="0" rIns="0" bIns="0" rtlCol="0" anchor="ctr"/>
          <a:lstStyle/>
          <a:p>
            <a:pPr marL="0" indent="0">
              <a:buNone/>
            </a:pPr>
            <a:r>
              <a:rPr lang="en-US" sz="1150" dirty="0">
                <a:solidFill>
                  <a:srgbClr val="8C9BBC"/>
                </a:solidFill>
                <a:latin typeface="Calibri" pitchFamily="34" charset="0"/>
                <a:ea typeface="Calibri" pitchFamily="34" charset="-122"/>
                <a:cs typeface="Calibri" pitchFamily="34" charset="-120"/>
              </a:rPr>
              <a:t>B.Tech II Year  |  Minor Project - Review 1  |  Academic Year 2026-27  |  Date:17-09-2026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AGENDA</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Contents</a:t>
            </a:r>
            <a:endParaRPr lang="en-US" sz="3100" dirty="0"/>
          </a:p>
        </p:txBody>
      </p:sp>
      <p:sp>
        <p:nvSpPr>
          <p:cNvPr id="4" name="Shape 2"/>
          <p:cNvSpPr/>
          <p:nvPr/>
        </p:nvSpPr>
        <p:spPr>
          <a:xfrm>
            <a:off x="548640" y="1417320"/>
            <a:ext cx="5349240" cy="603504"/>
          </a:xfrm>
          <a:prstGeom prst="roundRect">
            <a:avLst>
              <a:gd name="adj" fmla="val 12121"/>
            </a:avLst>
          </a:prstGeom>
          <a:solidFill>
            <a:srgbClr val="F1F4F9"/>
          </a:solidFill>
          <a:ln w="12700">
            <a:solidFill>
              <a:srgbClr val="DDE3EC"/>
            </a:solidFill>
            <a:prstDash val="solid"/>
          </a:ln>
        </p:spPr>
      </p:sp>
      <p:sp>
        <p:nvSpPr>
          <p:cNvPr id="5" name="Shape 3"/>
          <p:cNvSpPr/>
          <p:nvPr/>
        </p:nvSpPr>
        <p:spPr>
          <a:xfrm>
            <a:off x="731520" y="1527048"/>
            <a:ext cx="384048" cy="384048"/>
          </a:xfrm>
          <a:prstGeom prst="ellipse">
            <a:avLst/>
          </a:prstGeom>
          <a:solidFill>
            <a:srgbClr val="C8A02C"/>
          </a:solidFill>
          <a:ln/>
        </p:spPr>
      </p:sp>
      <p:sp>
        <p:nvSpPr>
          <p:cNvPr id="6" name="Text 4"/>
          <p:cNvSpPr txBox="1"/>
          <p:nvPr/>
        </p:nvSpPr>
        <p:spPr>
          <a:xfrm>
            <a:off x="731520" y="152704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61872" y="1417320"/>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Introduction &amp; Domain Background</a:t>
            </a:r>
            <a:endParaRPr lang="en-US" sz="1400" dirty="0"/>
          </a:p>
        </p:txBody>
      </p:sp>
      <p:sp>
        <p:nvSpPr>
          <p:cNvPr id="8" name="Shape 6"/>
          <p:cNvSpPr/>
          <p:nvPr/>
        </p:nvSpPr>
        <p:spPr>
          <a:xfrm>
            <a:off x="548640" y="2167128"/>
            <a:ext cx="5349240" cy="603504"/>
          </a:xfrm>
          <a:prstGeom prst="roundRect">
            <a:avLst>
              <a:gd name="adj" fmla="val 12121"/>
            </a:avLst>
          </a:prstGeom>
          <a:solidFill>
            <a:srgbClr val="F1F4F9"/>
          </a:solidFill>
          <a:ln w="12700">
            <a:solidFill>
              <a:srgbClr val="DDE3EC"/>
            </a:solidFill>
            <a:prstDash val="solid"/>
          </a:ln>
        </p:spPr>
      </p:sp>
      <p:sp>
        <p:nvSpPr>
          <p:cNvPr id="9" name="Shape 7"/>
          <p:cNvSpPr/>
          <p:nvPr/>
        </p:nvSpPr>
        <p:spPr>
          <a:xfrm>
            <a:off x="731520" y="2276856"/>
            <a:ext cx="384048" cy="384048"/>
          </a:xfrm>
          <a:prstGeom prst="ellipse">
            <a:avLst/>
          </a:prstGeom>
          <a:solidFill>
            <a:srgbClr val="C8A02C"/>
          </a:solidFill>
          <a:ln/>
        </p:spPr>
      </p:sp>
      <p:sp>
        <p:nvSpPr>
          <p:cNvPr id="10" name="Text 8"/>
          <p:cNvSpPr txBox="1"/>
          <p:nvPr/>
        </p:nvSpPr>
        <p:spPr>
          <a:xfrm>
            <a:off x="731520" y="2276856"/>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261872" y="2167128"/>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Problem Statement &amp; Motivation</a:t>
            </a:r>
            <a:endParaRPr lang="en-US" sz="1400" dirty="0"/>
          </a:p>
        </p:txBody>
      </p:sp>
      <p:sp>
        <p:nvSpPr>
          <p:cNvPr id="12" name="Shape 10"/>
          <p:cNvSpPr/>
          <p:nvPr/>
        </p:nvSpPr>
        <p:spPr>
          <a:xfrm>
            <a:off x="548640" y="2916936"/>
            <a:ext cx="5349240" cy="603504"/>
          </a:xfrm>
          <a:prstGeom prst="roundRect">
            <a:avLst>
              <a:gd name="adj" fmla="val 12121"/>
            </a:avLst>
          </a:prstGeom>
          <a:solidFill>
            <a:srgbClr val="F1F4F9"/>
          </a:solidFill>
          <a:ln w="12700">
            <a:solidFill>
              <a:srgbClr val="DDE3EC"/>
            </a:solidFill>
            <a:prstDash val="solid"/>
          </a:ln>
        </p:spPr>
      </p:sp>
      <p:sp>
        <p:nvSpPr>
          <p:cNvPr id="13" name="Shape 11"/>
          <p:cNvSpPr/>
          <p:nvPr/>
        </p:nvSpPr>
        <p:spPr>
          <a:xfrm>
            <a:off x="731520" y="3026664"/>
            <a:ext cx="384048" cy="384048"/>
          </a:xfrm>
          <a:prstGeom prst="ellipse">
            <a:avLst/>
          </a:prstGeom>
          <a:solidFill>
            <a:srgbClr val="C8A02C"/>
          </a:solidFill>
          <a:ln/>
        </p:spPr>
      </p:sp>
      <p:sp>
        <p:nvSpPr>
          <p:cNvPr id="14" name="Text 12"/>
          <p:cNvSpPr txBox="1"/>
          <p:nvPr/>
        </p:nvSpPr>
        <p:spPr>
          <a:xfrm>
            <a:off x="731520" y="3026664"/>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261872" y="2916936"/>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Literature Survey</a:t>
            </a:r>
            <a:endParaRPr lang="en-US" sz="1400" dirty="0"/>
          </a:p>
        </p:txBody>
      </p:sp>
      <p:sp>
        <p:nvSpPr>
          <p:cNvPr id="16" name="Shape 14"/>
          <p:cNvSpPr/>
          <p:nvPr/>
        </p:nvSpPr>
        <p:spPr>
          <a:xfrm>
            <a:off x="548640" y="3666744"/>
            <a:ext cx="5349240" cy="603504"/>
          </a:xfrm>
          <a:prstGeom prst="roundRect">
            <a:avLst>
              <a:gd name="adj" fmla="val 12121"/>
            </a:avLst>
          </a:prstGeom>
          <a:solidFill>
            <a:srgbClr val="F1F4F9"/>
          </a:solidFill>
          <a:ln w="12700">
            <a:solidFill>
              <a:srgbClr val="DDE3EC"/>
            </a:solidFill>
            <a:prstDash val="solid"/>
          </a:ln>
        </p:spPr>
      </p:sp>
      <p:sp>
        <p:nvSpPr>
          <p:cNvPr id="17" name="Shape 15"/>
          <p:cNvSpPr/>
          <p:nvPr/>
        </p:nvSpPr>
        <p:spPr>
          <a:xfrm>
            <a:off x="731520" y="3776472"/>
            <a:ext cx="384048" cy="384048"/>
          </a:xfrm>
          <a:prstGeom prst="ellipse">
            <a:avLst/>
          </a:prstGeom>
          <a:solidFill>
            <a:srgbClr val="C8A02C"/>
          </a:solidFill>
          <a:ln/>
        </p:spPr>
      </p:sp>
      <p:sp>
        <p:nvSpPr>
          <p:cNvPr id="18" name="Text 16"/>
          <p:cNvSpPr txBox="1"/>
          <p:nvPr/>
        </p:nvSpPr>
        <p:spPr>
          <a:xfrm>
            <a:off x="731520" y="3776472"/>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261872" y="3666744"/>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Research Gap Identified</a:t>
            </a:r>
            <a:endParaRPr lang="en-US" sz="1400" dirty="0"/>
          </a:p>
        </p:txBody>
      </p:sp>
      <p:sp>
        <p:nvSpPr>
          <p:cNvPr id="20" name="Shape 18"/>
          <p:cNvSpPr/>
          <p:nvPr/>
        </p:nvSpPr>
        <p:spPr>
          <a:xfrm>
            <a:off x="548640" y="4416552"/>
            <a:ext cx="5349240" cy="603504"/>
          </a:xfrm>
          <a:prstGeom prst="roundRect">
            <a:avLst>
              <a:gd name="adj" fmla="val 12121"/>
            </a:avLst>
          </a:prstGeom>
          <a:solidFill>
            <a:srgbClr val="F1F4F9"/>
          </a:solidFill>
          <a:ln w="12700">
            <a:solidFill>
              <a:srgbClr val="DDE3EC"/>
            </a:solidFill>
            <a:prstDash val="solid"/>
          </a:ln>
        </p:spPr>
      </p:sp>
      <p:sp>
        <p:nvSpPr>
          <p:cNvPr id="21" name="Shape 19"/>
          <p:cNvSpPr/>
          <p:nvPr/>
        </p:nvSpPr>
        <p:spPr>
          <a:xfrm>
            <a:off x="731520" y="4526280"/>
            <a:ext cx="384048" cy="384048"/>
          </a:xfrm>
          <a:prstGeom prst="ellipse">
            <a:avLst/>
          </a:prstGeom>
          <a:solidFill>
            <a:srgbClr val="C8A02C"/>
          </a:solidFill>
          <a:ln/>
        </p:spPr>
      </p:sp>
      <p:sp>
        <p:nvSpPr>
          <p:cNvPr id="22" name="Text 20"/>
          <p:cNvSpPr txBox="1"/>
          <p:nvPr/>
        </p:nvSpPr>
        <p:spPr>
          <a:xfrm>
            <a:off x="731520" y="452628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261872" y="4416552"/>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Objectives of the Project</a:t>
            </a:r>
            <a:endParaRPr lang="en-US" sz="1400" dirty="0"/>
          </a:p>
        </p:txBody>
      </p:sp>
      <p:sp>
        <p:nvSpPr>
          <p:cNvPr id="24" name="Shape 22"/>
          <p:cNvSpPr/>
          <p:nvPr/>
        </p:nvSpPr>
        <p:spPr>
          <a:xfrm>
            <a:off x="548640" y="5166360"/>
            <a:ext cx="5349240" cy="603504"/>
          </a:xfrm>
          <a:prstGeom prst="roundRect">
            <a:avLst>
              <a:gd name="adj" fmla="val 12121"/>
            </a:avLst>
          </a:prstGeom>
          <a:solidFill>
            <a:srgbClr val="F1F4F9"/>
          </a:solidFill>
          <a:ln w="12700">
            <a:solidFill>
              <a:srgbClr val="DDE3EC"/>
            </a:solidFill>
            <a:prstDash val="solid"/>
          </a:ln>
        </p:spPr>
      </p:sp>
      <p:sp>
        <p:nvSpPr>
          <p:cNvPr id="25" name="Shape 23"/>
          <p:cNvSpPr/>
          <p:nvPr/>
        </p:nvSpPr>
        <p:spPr>
          <a:xfrm>
            <a:off x="731520" y="5276088"/>
            <a:ext cx="384048" cy="384048"/>
          </a:xfrm>
          <a:prstGeom prst="ellipse">
            <a:avLst/>
          </a:prstGeom>
          <a:solidFill>
            <a:srgbClr val="C8A02C"/>
          </a:solidFill>
          <a:ln/>
        </p:spPr>
      </p:sp>
      <p:sp>
        <p:nvSpPr>
          <p:cNvPr id="26" name="Text 24"/>
          <p:cNvSpPr txBox="1"/>
          <p:nvPr/>
        </p:nvSpPr>
        <p:spPr>
          <a:xfrm>
            <a:off x="731520" y="527608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6</a:t>
            </a:r>
            <a:endParaRPr lang="en-US" sz="1300" dirty="0"/>
          </a:p>
        </p:txBody>
      </p:sp>
      <p:sp>
        <p:nvSpPr>
          <p:cNvPr id="27" name="Text 25"/>
          <p:cNvSpPr txBox="1"/>
          <p:nvPr/>
        </p:nvSpPr>
        <p:spPr>
          <a:xfrm>
            <a:off x="1261872" y="5166360"/>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Proposed System Architecture</a:t>
            </a:r>
            <a:endParaRPr lang="en-US" sz="1400" dirty="0"/>
          </a:p>
        </p:txBody>
      </p:sp>
      <p:sp>
        <p:nvSpPr>
          <p:cNvPr id="28" name="Shape 26"/>
          <p:cNvSpPr/>
          <p:nvPr/>
        </p:nvSpPr>
        <p:spPr>
          <a:xfrm>
            <a:off x="6217920" y="1417320"/>
            <a:ext cx="5349240" cy="603504"/>
          </a:xfrm>
          <a:prstGeom prst="roundRect">
            <a:avLst>
              <a:gd name="adj" fmla="val 12121"/>
            </a:avLst>
          </a:prstGeom>
          <a:solidFill>
            <a:srgbClr val="F1F4F9"/>
          </a:solidFill>
          <a:ln w="12700">
            <a:solidFill>
              <a:srgbClr val="DDE3EC"/>
            </a:solidFill>
            <a:prstDash val="solid"/>
          </a:ln>
        </p:spPr>
      </p:sp>
      <p:sp>
        <p:nvSpPr>
          <p:cNvPr id="29" name="Shape 27"/>
          <p:cNvSpPr/>
          <p:nvPr/>
        </p:nvSpPr>
        <p:spPr>
          <a:xfrm>
            <a:off x="6400800" y="1527048"/>
            <a:ext cx="384048" cy="384048"/>
          </a:xfrm>
          <a:prstGeom prst="ellipse">
            <a:avLst/>
          </a:prstGeom>
          <a:solidFill>
            <a:srgbClr val="C8A02C"/>
          </a:solidFill>
          <a:ln/>
        </p:spPr>
      </p:sp>
      <p:sp>
        <p:nvSpPr>
          <p:cNvPr id="30" name="Text 28"/>
          <p:cNvSpPr txBox="1"/>
          <p:nvPr/>
        </p:nvSpPr>
        <p:spPr>
          <a:xfrm>
            <a:off x="6400800" y="152704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7</a:t>
            </a:r>
            <a:endParaRPr lang="en-US" sz="1300" dirty="0"/>
          </a:p>
        </p:txBody>
      </p:sp>
      <p:sp>
        <p:nvSpPr>
          <p:cNvPr id="31" name="Text 29"/>
          <p:cNvSpPr txBox="1"/>
          <p:nvPr/>
        </p:nvSpPr>
        <p:spPr>
          <a:xfrm>
            <a:off x="6931152" y="1417320"/>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Methodology &amp; Modules</a:t>
            </a:r>
            <a:endParaRPr lang="en-US" sz="1400" dirty="0"/>
          </a:p>
        </p:txBody>
      </p:sp>
      <p:sp>
        <p:nvSpPr>
          <p:cNvPr id="32" name="Shape 30"/>
          <p:cNvSpPr/>
          <p:nvPr/>
        </p:nvSpPr>
        <p:spPr>
          <a:xfrm>
            <a:off x="6217920" y="2167128"/>
            <a:ext cx="5349240" cy="603504"/>
          </a:xfrm>
          <a:prstGeom prst="roundRect">
            <a:avLst>
              <a:gd name="adj" fmla="val 12121"/>
            </a:avLst>
          </a:prstGeom>
          <a:solidFill>
            <a:srgbClr val="F1F4F9"/>
          </a:solidFill>
          <a:ln w="12700">
            <a:solidFill>
              <a:srgbClr val="DDE3EC"/>
            </a:solidFill>
            <a:prstDash val="solid"/>
          </a:ln>
        </p:spPr>
      </p:sp>
      <p:sp>
        <p:nvSpPr>
          <p:cNvPr id="33" name="Shape 31"/>
          <p:cNvSpPr/>
          <p:nvPr/>
        </p:nvSpPr>
        <p:spPr>
          <a:xfrm>
            <a:off x="6400800" y="2276856"/>
            <a:ext cx="384048" cy="384048"/>
          </a:xfrm>
          <a:prstGeom prst="ellipse">
            <a:avLst/>
          </a:prstGeom>
          <a:solidFill>
            <a:srgbClr val="C8A02C"/>
          </a:solidFill>
          <a:ln/>
        </p:spPr>
      </p:sp>
      <p:sp>
        <p:nvSpPr>
          <p:cNvPr id="34" name="Text 32"/>
          <p:cNvSpPr txBox="1"/>
          <p:nvPr/>
        </p:nvSpPr>
        <p:spPr>
          <a:xfrm>
            <a:off x="6400800" y="2276856"/>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8</a:t>
            </a:r>
            <a:endParaRPr lang="en-US" sz="1300" dirty="0"/>
          </a:p>
        </p:txBody>
      </p:sp>
      <p:sp>
        <p:nvSpPr>
          <p:cNvPr id="35" name="Text 33"/>
          <p:cNvSpPr txBox="1"/>
          <p:nvPr/>
        </p:nvSpPr>
        <p:spPr>
          <a:xfrm>
            <a:off x="6931152" y="2167128"/>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Tools and Technologies</a:t>
            </a:r>
            <a:endParaRPr lang="en-US" sz="1400" dirty="0"/>
          </a:p>
        </p:txBody>
      </p:sp>
      <p:sp>
        <p:nvSpPr>
          <p:cNvPr id="36" name="Shape 34"/>
          <p:cNvSpPr/>
          <p:nvPr/>
        </p:nvSpPr>
        <p:spPr>
          <a:xfrm>
            <a:off x="6217920" y="2916936"/>
            <a:ext cx="5349240" cy="603504"/>
          </a:xfrm>
          <a:prstGeom prst="roundRect">
            <a:avLst>
              <a:gd name="adj" fmla="val 12121"/>
            </a:avLst>
          </a:prstGeom>
          <a:solidFill>
            <a:srgbClr val="F1F4F9"/>
          </a:solidFill>
          <a:ln w="12700">
            <a:solidFill>
              <a:srgbClr val="DDE3EC"/>
            </a:solidFill>
            <a:prstDash val="solid"/>
          </a:ln>
        </p:spPr>
      </p:sp>
      <p:sp>
        <p:nvSpPr>
          <p:cNvPr id="37" name="Shape 35"/>
          <p:cNvSpPr/>
          <p:nvPr/>
        </p:nvSpPr>
        <p:spPr>
          <a:xfrm>
            <a:off x="6400800" y="3026664"/>
            <a:ext cx="384048" cy="384048"/>
          </a:xfrm>
          <a:prstGeom prst="ellipse">
            <a:avLst/>
          </a:prstGeom>
          <a:solidFill>
            <a:srgbClr val="C8A02C"/>
          </a:solidFill>
          <a:ln/>
        </p:spPr>
      </p:sp>
      <p:sp>
        <p:nvSpPr>
          <p:cNvPr id="38" name="Text 36"/>
          <p:cNvSpPr txBox="1"/>
          <p:nvPr/>
        </p:nvSpPr>
        <p:spPr>
          <a:xfrm>
            <a:off x="6400800" y="3026664"/>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9</a:t>
            </a:r>
            <a:endParaRPr lang="en-US" sz="1300" dirty="0"/>
          </a:p>
        </p:txBody>
      </p:sp>
      <p:sp>
        <p:nvSpPr>
          <p:cNvPr id="39" name="Text 37"/>
          <p:cNvSpPr txBox="1"/>
          <p:nvPr/>
        </p:nvSpPr>
        <p:spPr>
          <a:xfrm>
            <a:off x="6931152" y="2916936"/>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Work Completed / Demo</a:t>
            </a:r>
            <a:endParaRPr lang="en-US" sz="1400" dirty="0"/>
          </a:p>
        </p:txBody>
      </p:sp>
      <p:sp>
        <p:nvSpPr>
          <p:cNvPr id="40" name="Shape 38"/>
          <p:cNvSpPr/>
          <p:nvPr/>
        </p:nvSpPr>
        <p:spPr>
          <a:xfrm>
            <a:off x="6217920" y="3666744"/>
            <a:ext cx="5349240" cy="603504"/>
          </a:xfrm>
          <a:prstGeom prst="roundRect">
            <a:avLst>
              <a:gd name="adj" fmla="val 12121"/>
            </a:avLst>
          </a:prstGeom>
          <a:solidFill>
            <a:srgbClr val="F1F4F9"/>
          </a:solidFill>
          <a:ln w="12700">
            <a:solidFill>
              <a:srgbClr val="DDE3EC"/>
            </a:solidFill>
            <a:prstDash val="solid"/>
          </a:ln>
        </p:spPr>
      </p:sp>
      <p:sp>
        <p:nvSpPr>
          <p:cNvPr id="41" name="Shape 39"/>
          <p:cNvSpPr/>
          <p:nvPr/>
        </p:nvSpPr>
        <p:spPr>
          <a:xfrm>
            <a:off x="6400800" y="3776472"/>
            <a:ext cx="384048" cy="384048"/>
          </a:xfrm>
          <a:prstGeom prst="ellipse">
            <a:avLst/>
          </a:prstGeom>
          <a:solidFill>
            <a:srgbClr val="C8A02C"/>
          </a:solidFill>
          <a:ln/>
        </p:spPr>
      </p:sp>
      <p:sp>
        <p:nvSpPr>
          <p:cNvPr id="42" name="Text 40"/>
          <p:cNvSpPr txBox="1"/>
          <p:nvPr/>
        </p:nvSpPr>
        <p:spPr>
          <a:xfrm>
            <a:off x="6400800" y="3776472"/>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10</a:t>
            </a:r>
            <a:endParaRPr lang="en-US" sz="1300" dirty="0"/>
          </a:p>
        </p:txBody>
      </p:sp>
      <p:sp>
        <p:nvSpPr>
          <p:cNvPr id="43" name="Text 41"/>
          <p:cNvSpPr txBox="1"/>
          <p:nvPr/>
        </p:nvSpPr>
        <p:spPr>
          <a:xfrm>
            <a:off x="6931152" y="3666744"/>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Timeline &amp; Review Plan</a:t>
            </a:r>
            <a:endParaRPr lang="en-US" sz="1400" dirty="0"/>
          </a:p>
        </p:txBody>
      </p:sp>
      <p:sp>
        <p:nvSpPr>
          <p:cNvPr id="44" name="Shape 42"/>
          <p:cNvSpPr/>
          <p:nvPr/>
        </p:nvSpPr>
        <p:spPr>
          <a:xfrm>
            <a:off x="6217920" y="4416552"/>
            <a:ext cx="5349240" cy="603504"/>
          </a:xfrm>
          <a:prstGeom prst="roundRect">
            <a:avLst>
              <a:gd name="adj" fmla="val 12121"/>
            </a:avLst>
          </a:prstGeom>
          <a:solidFill>
            <a:srgbClr val="F1F4F9"/>
          </a:solidFill>
          <a:ln w="12700">
            <a:solidFill>
              <a:srgbClr val="DDE3EC"/>
            </a:solidFill>
            <a:prstDash val="solid"/>
          </a:ln>
        </p:spPr>
      </p:sp>
      <p:sp>
        <p:nvSpPr>
          <p:cNvPr id="45" name="Shape 43"/>
          <p:cNvSpPr/>
          <p:nvPr/>
        </p:nvSpPr>
        <p:spPr>
          <a:xfrm>
            <a:off x="6400800" y="4526280"/>
            <a:ext cx="384048" cy="384048"/>
          </a:xfrm>
          <a:prstGeom prst="ellipse">
            <a:avLst/>
          </a:prstGeom>
          <a:solidFill>
            <a:srgbClr val="C8A02C"/>
          </a:solidFill>
          <a:ln/>
        </p:spPr>
      </p:sp>
      <p:sp>
        <p:nvSpPr>
          <p:cNvPr id="46" name="Text 44"/>
          <p:cNvSpPr txBox="1"/>
          <p:nvPr/>
        </p:nvSpPr>
        <p:spPr>
          <a:xfrm>
            <a:off x="6400800" y="452628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11</a:t>
            </a:r>
            <a:endParaRPr lang="en-US" sz="1300" dirty="0"/>
          </a:p>
        </p:txBody>
      </p:sp>
      <p:sp>
        <p:nvSpPr>
          <p:cNvPr id="47" name="Text 45"/>
          <p:cNvSpPr txBox="1"/>
          <p:nvPr/>
        </p:nvSpPr>
        <p:spPr>
          <a:xfrm>
            <a:off x="6931152" y="4416552"/>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Expected Outcome &amp; Conclusion</a:t>
            </a:r>
            <a:endParaRPr lang="en-US" sz="1400" dirty="0"/>
          </a:p>
        </p:txBody>
      </p:sp>
      <p:sp>
        <p:nvSpPr>
          <p:cNvPr id="48" name="Shape 46"/>
          <p:cNvSpPr/>
          <p:nvPr/>
        </p:nvSpPr>
        <p:spPr>
          <a:xfrm>
            <a:off x="6217920" y="5166360"/>
            <a:ext cx="5349240" cy="603504"/>
          </a:xfrm>
          <a:prstGeom prst="roundRect">
            <a:avLst>
              <a:gd name="adj" fmla="val 12121"/>
            </a:avLst>
          </a:prstGeom>
          <a:solidFill>
            <a:srgbClr val="F1F4F9"/>
          </a:solidFill>
          <a:ln w="12700">
            <a:solidFill>
              <a:srgbClr val="DDE3EC"/>
            </a:solidFill>
            <a:prstDash val="solid"/>
          </a:ln>
        </p:spPr>
      </p:sp>
      <p:sp>
        <p:nvSpPr>
          <p:cNvPr id="49" name="Shape 47"/>
          <p:cNvSpPr/>
          <p:nvPr/>
        </p:nvSpPr>
        <p:spPr>
          <a:xfrm>
            <a:off x="6400800" y="5276088"/>
            <a:ext cx="384048" cy="384048"/>
          </a:xfrm>
          <a:prstGeom prst="ellipse">
            <a:avLst/>
          </a:prstGeom>
          <a:solidFill>
            <a:srgbClr val="C8A02C"/>
          </a:solidFill>
          <a:ln/>
        </p:spPr>
      </p:sp>
      <p:sp>
        <p:nvSpPr>
          <p:cNvPr id="50" name="Text 48"/>
          <p:cNvSpPr txBox="1"/>
          <p:nvPr/>
        </p:nvSpPr>
        <p:spPr>
          <a:xfrm>
            <a:off x="6400800" y="527608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12</a:t>
            </a:r>
            <a:endParaRPr lang="en-US" sz="1300" dirty="0"/>
          </a:p>
        </p:txBody>
      </p:sp>
      <p:sp>
        <p:nvSpPr>
          <p:cNvPr id="51" name="Text 49"/>
          <p:cNvSpPr txBox="1"/>
          <p:nvPr/>
        </p:nvSpPr>
        <p:spPr>
          <a:xfrm>
            <a:off x="6931152" y="5166360"/>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References</a:t>
            </a:r>
            <a:endParaRPr lang="en-US" sz="1400" dirty="0"/>
          </a:p>
        </p:txBody>
      </p:sp>
      <p:sp>
        <p:nvSpPr>
          <p:cNvPr id="52" name="Text 50"/>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53" name="Text 51"/>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1</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Introduction &amp; Domain Background</a:t>
            </a:r>
            <a:endParaRPr lang="en-US" sz="3100" dirty="0"/>
          </a:p>
        </p:txBody>
      </p:sp>
      <p:sp>
        <p:nvSpPr>
          <p:cNvPr id="4" name="Shape 2"/>
          <p:cNvSpPr/>
          <p:nvPr/>
        </p:nvSpPr>
        <p:spPr>
          <a:xfrm>
            <a:off x="548640" y="1417320"/>
            <a:ext cx="6583680" cy="4480560"/>
          </a:xfrm>
          <a:prstGeom prst="roundRect">
            <a:avLst>
              <a:gd name="adj" fmla="val 1633"/>
            </a:avLst>
          </a:prstGeom>
          <a:solidFill>
            <a:srgbClr val="F1F4F9"/>
          </a:solidFill>
          <a:ln w="12700">
            <a:solidFill>
              <a:srgbClr val="DDE3EC"/>
            </a:solidFill>
            <a:prstDash val="solid"/>
          </a:ln>
        </p:spPr>
      </p:sp>
      <p:sp>
        <p:nvSpPr>
          <p:cNvPr id="5" name="Text 3"/>
          <p:cNvSpPr txBox="1"/>
          <p:nvPr/>
        </p:nvSpPr>
        <p:spPr>
          <a:xfrm>
            <a:off x="868680" y="1691640"/>
            <a:ext cx="6035040" cy="3931920"/>
          </a:xfrm>
          <a:prstGeom prst="rect">
            <a:avLst/>
          </a:prstGeom>
          <a:noFill/>
          <a:ln/>
        </p:spPr>
        <p:txBody>
          <a:bodyPr wrap="square" lIns="0" tIns="0" rIns="0" bIns="0" rtlCol="0" anchor="ctr"/>
          <a:lstStyle/>
          <a:p>
            <a:pPr marL="0" indent="0">
              <a:lnSpc>
                <a:spcPts val="2200"/>
              </a:lnSpc>
              <a:buNone/>
            </a:pPr>
            <a:r>
              <a:rPr lang="en-US" sz="1500" b="1" dirty="0">
                <a:solidFill>
                  <a:srgbClr val="1B2A55"/>
                </a:solidFill>
                <a:latin typeface="Calibri" pitchFamily="34" charset="0"/>
                <a:ea typeface="Calibri" pitchFamily="34" charset="-122"/>
                <a:cs typeface="Calibri" pitchFamily="34" charset="-120"/>
              </a:rPr>
              <a:t>What is the domain?</a:t>
            </a:r>
            <a:endParaRPr lang="en-US" sz="1500" dirty="0"/>
          </a:p>
          <a:p>
            <a:pPr marL="0" indent="0">
              <a:lnSpc>
                <a:spcPts val="2200"/>
              </a:lnSpc>
              <a:buNone/>
            </a:pPr>
            <a:r>
              <a:rPr lang="en-US" sz="1350" dirty="0">
                <a:solidFill>
                  <a:srgbClr val="1F2430"/>
                </a:solidFill>
                <a:latin typeface="Calibri" pitchFamily="34" charset="0"/>
                <a:ea typeface="Calibri" pitchFamily="34" charset="-122"/>
                <a:cs typeface="Calibri" pitchFamily="34" charset="-120"/>
              </a:rPr>
              <a:t>Online shopping and food-delivery apps now let every customer leave a review. Reading through thousands of these reviews by hand to find out how customers feel is slow and impractical.</a:t>
            </a:r>
            <a:endParaRPr lang="en-US" sz="1500" dirty="0"/>
          </a:p>
          <a:p>
            <a:pPr marL="0" indent="0">
              <a:lnSpc>
                <a:spcPts val="2200"/>
              </a:lnSpc>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marL="0" indent="0">
              <a:lnSpc>
                <a:spcPts val="2200"/>
              </a:lnSpc>
              <a:buNone/>
            </a:pPr>
            <a:r>
              <a:rPr lang="en-US" sz="1500" b="1" dirty="0">
                <a:solidFill>
                  <a:srgbClr val="1B2A55"/>
                </a:solidFill>
                <a:latin typeface="Calibri" pitchFamily="34" charset="0"/>
                <a:ea typeface="Calibri" pitchFamily="34" charset="-122"/>
                <a:cs typeface="Calibri" pitchFamily="34" charset="-120"/>
              </a:rPr>
              <a:t>Why is it relevant today?</a:t>
            </a:r>
            <a:endParaRPr lang="en-US" sz="1500" dirty="0"/>
          </a:p>
          <a:p>
            <a:pPr marL="0" indent="0">
              <a:lnSpc>
                <a:spcPts val="2200"/>
              </a:lnSpc>
              <a:buNone/>
            </a:pPr>
            <a:r>
              <a:rPr lang="en-US" sz="1350" dirty="0">
                <a:solidFill>
                  <a:srgbClr val="1F2430"/>
                </a:solidFill>
                <a:latin typeface="Calibri" pitchFamily="34" charset="0"/>
                <a:ea typeface="Calibri" pitchFamily="34" charset="-122"/>
                <a:cs typeface="Calibri" pitchFamily="34" charset="-120"/>
              </a:rPr>
              <a:t>Nearly 9 in 10 shoppers read online reviews before buying, and most e-commerce platforms add thousands of new reviews every day [1].</a:t>
            </a:r>
            <a:endParaRPr lang="en-US" sz="1500" dirty="0"/>
          </a:p>
          <a:p>
            <a:pPr marL="0" indent="0">
              <a:lnSpc>
                <a:spcPts val="2200"/>
              </a:lnSpc>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marL="0" indent="0">
              <a:lnSpc>
                <a:spcPts val="2200"/>
              </a:lnSpc>
              <a:buNone/>
            </a:pPr>
            <a:r>
              <a:rPr lang="en-US" sz="1500" b="1" dirty="0">
                <a:solidFill>
                  <a:srgbClr val="1B2A55"/>
                </a:solidFill>
                <a:latin typeface="Calibri" pitchFamily="34" charset="0"/>
                <a:ea typeface="Calibri" pitchFamily="34" charset="-122"/>
                <a:cs typeface="Calibri" pitchFamily="34" charset="-120"/>
              </a:rPr>
              <a:t>Where does your project sit?</a:t>
            </a:r>
            <a:endParaRPr lang="en-US" sz="1500" dirty="0"/>
          </a:p>
          <a:p>
            <a:pPr marL="0" indent="0">
              <a:lnSpc>
                <a:spcPts val="2200"/>
              </a:lnSpc>
              <a:buNone/>
            </a:pPr>
            <a:r>
              <a:rPr lang="en-US" sz="1350" dirty="0">
                <a:solidFill>
                  <a:srgbClr val="1F2430"/>
                </a:solidFill>
                <a:latin typeface="Calibri" pitchFamily="34" charset="0"/>
                <a:ea typeface="Calibri" pitchFamily="34" charset="-122"/>
                <a:cs typeface="Calibri" pitchFamily="34" charset="-120"/>
              </a:rPr>
              <a:t>This project sits at the intersection of Natural Language Processing and Machine Learning - it automatically reads customer reviews and labels each one as positive, negative, or neutral.</a:t>
            </a:r>
            <a:endParaRPr lang="en-US" sz="1500" dirty="0"/>
          </a:p>
        </p:txBody>
      </p:sp>
      <p:sp>
        <p:nvSpPr>
          <p:cNvPr id="8" name="Shape 6"/>
          <p:cNvSpPr/>
          <p:nvPr/>
        </p:nvSpPr>
        <p:spPr>
          <a:xfrm>
            <a:off x="7406640" y="4434840"/>
            <a:ext cx="4206240" cy="1463040"/>
          </a:xfrm>
          <a:prstGeom prst="roundRect">
            <a:avLst>
              <a:gd name="adj" fmla="val 5000"/>
            </a:avLst>
          </a:prstGeom>
          <a:solidFill>
            <a:srgbClr val="FDF6E6"/>
          </a:solidFill>
          <a:ln w="12700">
            <a:solidFill>
              <a:srgbClr val="DDE3EC"/>
            </a:solidFill>
            <a:prstDash val="solid"/>
          </a:ln>
        </p:spPr>
      </p:sp>
      <p:sp>
        <p:nvSpPr>
          <p:cNvPr id="9" name="Text 7"/>
          <p:cNvSpPr txBox="1"/>
          <p:nvPr/>
        </p:nvSpPr>
        <p:spPr>
          <a:xfrm>
            <a:off x="7635240" y="4572000"/>
            <a:ext cx="3749040" cy="256032"/>
          </a:xfrm>
          <a:prstGeom prst="rect">
            <a:avLst/>
          </a:prstGeom>
          <a:noFill/>
          <a:ln/>
        </p:spPr>
        <p:txBody>
          <a:bodyPr wrap="square" lIns="0" tIns="0" rIns="0" bIns="0" rtlCol="0" anchor="ctr"/>
          <a:lstStyle/>
          <a:p>
            <a:pPr marL="0" indent="0">
              <a:buNone/>
            </a:pPr>
            <a:r>
              <a:rPr lang="en-US" sz="1050" b="1" kern="0" spc="150" dirty="0">
                <a:solidFill>
                  <a:srgbClr val="A4161A"/>
                </a:solidFill>
                <a:latin typeface="Calibri" pitchFamily="34" charset="0"/>
                <a:ea typeface="Calibri" pitchFamily="34" charset="-122"/>
                <a:cs typeface="Calibri" pitchFamily="34" charset="-120"/>
              </a:rPr>
              <a:t>Panel tip</a:t>
            </a:r>
            <a:endParaRPr lang="en-US" sz="1050" dirty="0"/>
          </a:p>
        </p:txBody>
      </p:sp>
      <p:sp>
        <p:nvSpPr>
          <p:cNvPr id="10" name="Text 8"/>
          <p:cNvSpPr txBox="1"/>
          <p:nvPr/>
        </p:nvSpPr>
        <p:spPr>
          <a:xfrm>
            <a:off x="7635240" y="4864608"/>
            <a:ext cx="3749040" cy="868680"/>
          </a:xfrm>
          <a:prstGeom prst="rect">
            <a:avLst/>
          </a:prstGeom>
          <a:noFill/>
          <a:ln/>
        </p:spPr>
        <p:txBody>
          <a:bodyPr wrap="square" lIns="0" tIns="0" rIns="0" bIns="0" rtlCol="0" anchor="ctr"/>
          <a:lstStyle/>
          <a:p>
            <a:pPr marL="0" indent="0">
              <a:buNone/>
            </a:pPr>
            <a:r>
              <a:rPr lang="en-US" sz="1250" dirty="0">
                <a:solidFill>
                  <a:srgbClr val="1F2430"/>
                </a:solidFill>
                <a:latin typeface="Calibri" pitchFamily="34" charset="0"/>
                <a:ea typeface="Calibri" pitchFamily="34" charset="-122"/>
                <a:cs typeface="Calibri" pitchFamily="34" charset="-120"/>
              </a:rPr>
              <a:t>Every claim on this slide must be traceable to a reference on the last slide.</a:t>
            </a:r>
            <a:endParaRPr lang="en-US" sz="1250" dirty="0"/>
          </a:p>
        </p:txBody>
      </p:sp>
      <p:sp>
        <p:nvSpPr>
          <p:cNvPr id="11" name="Text 9"/>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2" name="Text 10"/>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2</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Problem Statement &amp; Motivation</a:t>
            </a:r>
            <a:endParaRPr lang="en-US" sz="3100" dirty="0"/>
          </a:p>
        </p:txBody>
      </p:sp>
      <p:sp>
        <p:nvSpPr>
          <p:cNvPr id="4" name="Shape 2"/>
          <p:cNvSpPr/>
          <p:nvPr/>
        </p:nvSpPr>
        <p:spPr>
          <a:xfrm>
            <a:off x="548640" y="1417320"/>
            <a:ext cx="11064240" cy="1600200"/>
          </a:xfrm>
          <a:prstGeom prst="roundRect">
            <a:avLst>
              <a:gd name="adj" fmla="val 4571"/>
            </a:avLst>
          </a:prstGeom>
          <a:solidFill>
            <a:srgbClr val="F7EAEA"/>
          </a:solidFill>
          <a:ln w="12700">
            <a:solidFill>
              <a:srgbClr val="DDE3EC"/>
            </a:solidFill>
            <a:prstDash val="solid"/>
          </a:ln>
        </p:spPr>
      </p:sp>
      <p:sp>
        <p:nvSpPr>
          <p:cNvPr id="5" name="Shape 3"/>
          <p:cNvSpPr/>
          <p:nvPr/>
        </p:nvSpPr>
        <p:spPr>
          <a:xfrm>
            <a:off x="548640" y="1417320"/>
            <a:ext cx="109728" cy="1600200"/>
          </a:xfrm>
          <a:prstGeom prst="roundRect">
            <a:avLst>
              <a:gd name="adj" fmla="val 41667"/>
            </a:avLst>
          </a:prstGeom>
          <a:solidFill>
            <a:srgbClr val="A4161A"/>
          </a:solidFill>
          <a:ln w="12700">
            <a:solidFill>
              <a:srgbClr val="A4161A"/>
            </a:solidFill>
            <a:prstDash val="solid"/>
          </a:ln>
        </p:spPr>
      </p:sp>
      <p:sp>
        <p:nvSpPr>
          <p:cNvPr id="6" name="Text 4"/>
          <p:cNvSpPr txBox="1"/>
          <p:nvPr/>
        </p:nvSpPr>
        <p:spPr>
          <a:xfrm>
            <a:off x="914400" y="1627632"/>
            <a:ext cx="10424160" cy="256032"/>
          </a:xfrm>
          <a:prstGeom prst="rect">
            <a:avLst/>
          </a:prstGeom>
          <a:noFill/>
          <a:ln/>
        </p:spPr>
        <p:txBody>
          <a:bodyPr wrap="square" lIns="0" tIns="0" rIns="0" bIns="0" rtlCol="0" anchor="ctr"/>
          <a:lstStyle/>
          <a:p>
            <a:pPr marL="0" indent="0">
              <a:buNone/>
            </a:pPr>
            <a:r>
              <a:rPr lang="en-US" sz="1050" b="1" kern="0" spc="200" dirty="0">
                <a:solidFill>
                  <a:srgbClr val="A4161A"/>
                </a:solidFill>
                <a:latin typeface="Calibri" pitchFamily="34" charset="0"/>
                <a:ea typeface="Calibri" pitchFamily="34" charset="-122"/>
                <a:cs typeface="Calibri" pitchFamily="34" charset="-120"/>
              </a:rPr>
              <a:t>PROBLEM STATEMENT</a:t>
            </a:r>
            <a:endParaRPr lang="en-US" sz="1050" dirty="0"/>
          </a:p>
        </p:txBody>
      </p:sp>
      <p:sp>
        <p:nvSpPr>
          <p:cNvPr id="7" name="Text 5"/>
          <p:cNvSpPr txBox="1"/>
          <p:nvPr/>
        </p:nvSpPr>
        <p:spPr>
          <a:xfrm>
            <a:off x="914400" y="1920240"/>
            <a:ext cx="10424160" cy="914400"/>
          </a:xfrm>
          <a:prstGeom prst="rect">
            <a:avLst/>
          </a:prstGeom>
          <a:noFill/>
          <a:ln/>
        </p:spPr>
        <p:txBody>
          <a:bodyPr wrap="square" lIns="0" tIns="0" rIns="0" bIns="0" rtlCol="0" anchor="ctr"/>
          <a:lstStyle/>
          <a:p>
            <a:pPr marL="0" indent="0">
              <a:buNone/>
            </a:pPr>
            <a:r>
              <a:rPr lang="en-US" sz="2000" b="1" dirty="0">
                <a:solidFill>
                  <a:srgbClr val="1B2A55"/>
                </a:solidFill>
                <a:latin typeface="Cambria" pitchFamily="34" charset="0"/>
                <a:ea typeface="Cambria" pitchFamily="34" charset="-122"/>
                <a:cs typeface="Cambria" pitchFamily="34" charset="-120"/>
              </a:rPr>
              <a:t>" Existing review platforms fail to summarise customer opinion automatically because sentiment is judged manually or with simple keyword rules, which results in slow, inconsistent, and often inaccurate insight into what customers actually feel. "</a:t>
            </a:r>
            <a:endParaRPr lang="en-US" sz="2000" dirty="0"/>
          </a:p>
        </p:txBody>
      </p:sp>
      <p:sp>
        <p:nvSpPr>
          <p:cNvPr id="8" name="Shape 6"/>
          <p:cNvSpPr/>
          <p:nvPr/>
        </p:nvSpPr>
        <p:spPr>
          <a:xfrm>
            <a:off x="548640" y="3291840"/>
            <a:ext cx="3520440" cy="2606040"/>
          </a:xfrm>
          <a:prstGeom prst="roundRect">
            <a:avLst>
              <a:gd name="adj" fmla="val 2807"/>
            </a:avLst>
          </a:prstGeom>
          <a:solidFill>
            <a:srgbClr val="F1F4F9"/>
          </a:solidFill>
          <a:ln w="12700">
            <a:solidFill>
              <a:srgbClr val="DDE3EC"/>
            </a:solidFill>
            <a:prstDash val="solid"/>
          </a:ln>
        </p:spPr>
      </p:sp>
      <p:sp>
        <p:nvSpPr>
          <p:cNvPr id="9" name="Shape 7"/>
          <p:cNvSpPr/>
          <p:nvPr/>
        </p:nvSpPr>
        <p:spPr>
          <a:xfrm>
            <a:off x="777240" y="3520440"/>
            <a:ext cx="384048" cy="384048"/>
          </a:xfrm>
          <a:prstGeom prst="ellipse">
            <a:avLst/>
          </a:prstGeom>
          <a:solidFill>
            <a:srgbClr val="C8A02C"/>
          </a:solidFill>
          <a:ln/>
        </p:spPr>
      </p:sp>
      <p:sp>
        <p:nvSpPr>
          <p:cNvPr id="10" name="Text 8"/>
          <p:cNvSpPr txBox="1"/>
          <p:nvPr/>
        </p:nvSpPr>
        <p:spPr>
          <a:xfrm>
            <a:off x="777240" y="352044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777240" y="4023360"/>
            <a:ext cx="3063240" cy="457200"/>
          </a:xfrm>
          <a:prstGeom prst="rect">
            <a:avLst/>
          </a:prstGeom>
          <a:noFill/>
          <a:ln/>
        </p:spPr>
        <p:txBody>
          <a:bodyPr wrap="square" lIns="0" tIns="0" rIns="0" bIns="0" rtlCol="0" anchor="ctr"/>
          <a:lstStyle/>
          <a:p>
            <a:pPr marL="0" indent="0">
              <a:buNone/>
            </a:pPr>
            <a:r>
              <a:rPr lang="en-US" sz="1500" b="1" dirty="0">
                <a:solidFill>
                  <a:srgbClr val="1B2A55"/>
                </a:solidFill>
                <a:latin typeface="Calibri" pitchFamily="34" charset="0"/>
                <a:ea typeface="Calibri" pitchFamily="34" charset="-122"/>
                <a:cs typeface="Calibri" pitchFamily="34" charset="-120"/>
              </a:rPr>
              <a:t>Who is affected?</a:t>
            </a:r>
            <a:endParaRPr lang="en-US" sz="1500" dirty="0"/>
          </a:p>
        </p:txBody>
      </p:sp>
      <p:sp>
        <p:nvSpPr>
          <p:cNvPr id="12" name="Text 10"/>
          <p:cNvSpPr txBox="1"/>
          <p:nvPr/>
        </p:nvSpPr>
        <p:spPr>
          <a:xfrm>
            <a:off x="777240" y="4526280"/>
            <a:ext cx="3063240" cy="1234440"/>
          </a:xfrm>
          <a:prstGeom prst="rect">
            <a:avLst/>
          </a:prstGeom>
          <a:noFill/>
          <a:ln/>
        </p:spPr>
        <p:txBody>
          <a:bodyPr wrap="square" lIns="0" tIns="0" rIns="0" bIns="0" rtlCol="0" anchor="ctr"/>
          <a:lstStyle/>
          <a:p>
            <a:pPr marL="0" indent="0">
              <a:buNone/>
            </a:pPr>
            <a:r>
              <a:rPr lang="en-US" sz="1250" dirty="0">
                <a:solidFill>
                  <a:srgbClr val="1F2430"/>
                </a:solidFill>
                <a:latin typeface="Calibri" pitchFamily="34" charset="0"/>
                <a:ea typeface="Calibri" pitchFamily="34" charset="-122"/>
                <a:cs typeface="Calibri" pitchFamily="34" charset="-120"/>
              </a:rPr>
              <a:t>E-commerce businesses, product teams, and customer support teams who need a quick, reliable read of customer opinion across thousands of reviews.</a:t>
            </a:r>
            <a:endParaRPr lang="en-US" sz="1250" dirty="0"/>
          </a:p>
        </p:txBody>
      </p:sp>
      <p:sp>
        <p:nvSpPr>
          <p:cNvPr id="13" name="Shape 11"/>
          <p:cNvSpPr/>
          <p:nvPr/>
        </p:nvSpPr>
        <p:spPr>
          <a:xfrm>
            <a:off x="4297680" y="3291840"/>
            <a:ext cx="3520440" cy="2606040"/>
          </a:xfrm>
          <a:prstGeom prst="roundRect">
            <a:avLst>
              <a:gd name="adj" fmla="val 2807"/>
            </a:avLst>
          </a:prstGeom>
          <a:solidFill>
            <a:srgbClr val="F1F4F9"/>
          </a:solidFill>
          <a:ln w="12700">
            <a:solidFill>
              <a:srgbClr val="DDE3EC"/>
            </a:solidFill>
            <a:prstDash val="solid"/>
          </a:ln>
        </p:spPr>
      </p:sp>
      <p:sp>
        <p:nvSpPr>
          <p:cNvPr id="14" name="Shape 12"/>
          <p:cNvSpPr/>
          <p:nvPr/>
        </p:nvSpPr>
        <p:spPr>
          <a:xfrm>
            <a:off x="4526280" y="3520440"/>
            <a:ext cx="384048" cy="384048"/>
          </a:xfrm>
          <a:prstGeom prst="ellipse">
            <a:avLst/>
          </a:prstGeom>
          <a:solidFill>
            <a:srgbClr val="C8A02C"/>
          </a:solidFill>
          <a:ln/>
        </p:spPr>
      </p:sp>
      <p:sp>
        <p:nvSpPr>
          <p:cNvPr id="15" name="Text 13"/>
          <p:cNvSpPr txBox="1"/>
          <p:nvPr/>
        </p:nvSpPr>
        <p:spPr>
          <a:xfrm>
            <a:off x="4526280" y="352044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4526280" y="4023360"/>
            <a:ext cx="3063240" cy="457200"/>
          </a:xfrm>
          <a:prstGeom prst="rect">
            <a:avLst/>
          </a:prstGeom>
          <a:noFill/>
          <a:ln/>
        </p:spPr>
        <p:txBody>
          <a:bodyPr wrap="square" lIns="0" tIns="0" rIns="0" bIns="0" rtlCol="0" anchor="ctr"/>
          <a:lstStyle/>
          <a:p>
            <a:pPr marL="0" indent="0">
              <a:buNone/>
            </a:pPr>
            <a:r>
              <a:rPr lang="en-US" sz="1500" b="1" dirty="0">
                <a:solidFill>
                  <a:srgbClr val="1B2A55"/>
                </a:solidFill>
                <a:latin typeface="Calibri" pitchFamily="34" charset="0"/>
                <a:ea typeface="Calibri" pitchFamily="34" charset="-122"/>
                <a:cs typeface="Calibri" pitchFamily="34" charset="-120"/>
              </a:rPr>
              <a:t>What is the cost of the problem?</a:t>
            </a:r>
            <a:endParaRPr lang="en-US" sz="1500" dirty="0"/>
          </a:p>
        </p:txBody>
      </p:sp>
      <p:sp>
        <p:nvSpPr>
          <p:cNvPr id="17" name="Text 15"/>
          <p:cNvSpPr txBox="1"/>
          <p:nvPr/>
        </p:nvSpPr>
        <p:spPr>
          <a:xfrm>
            <a:off x="4526280" y="4526280"/>
            <a:ext cx="3063240" cy="1234440"/>
          </a:xfrm>
          <a:prstGeom prst="rect">
            <a:avLst/>
          </a:prstGeom>
          <a:noFill/>
          <a:ln/>
        </p:spPr>
        <p:txBody>
          <a:bodyPr wrap="square" lIns="0" tIns="0" rIns="0" bIns="0" rtlCol="0" anchor="ctr"/>
          <a:lstStyle/>
          <a:p>
            <a:pPr marL="0" indent="0">
              <a:buNone/>
            </a:pPr>
            <a:r>
              <a:rPr lang="en-US" sz="1250" dirty="0">
                <a:solidFill>
                  <a:srgbClr val="1F2430"/>
                </a:solidFill>
                <a:latin typeface="Calibri" pitchFamily="34" charset="0"/>
                <a:ea typeface="Calibri" pitchFamily="34" charset="-122"/>
                <a:cs typeface="Calibri" pitchFamily="34" charset="-120"/>
              </a:rPr>
              <a:t>Manually tagging reviews wastes work-hours and negative feedback trends are often noticed too late, delaying product fixes and hurting customer trust.</a:t>
            </a:r>
            <a:endParaRPr lang="en-US" sz="1250" dirty="0"/>
          </a:p>
        </p:txBody>
      </p:sp>
      <p:sp>
        <p:nvSpPr>
          <p:cNvPr id="18" name="Shape 16"/>
          <p:cNvSpPr/>
          <p:nvPr/>
        </p:nvSpPr>
        <p:spPr>
          <a:xfrm>
            <a:off x="8046720" y="3291840"/>
            <a:ext cx="3520440" cy="2606040"/>
          </a:xfrm>
          <a:prstGeom prst="roundRect">
            <a:avLst>
              <a:gd name="adj" fmla="val 2807"/>
            </a:avLst>
          </a:prstGeom>
          <a:solidFill>
            <a:srgbClr val="F1F4F9"/>
          </a:solidFill>
          <a:ln w="12700">
            <a:solidFill>
              <a:srgbClr val="DDE3EC"/>
            </a:solidFill>
            <a:prstDash val="solid"/>
          </a:ln>
        </p:spPr>
      </p:sp>
      <p:sp>
        <p:nvSpPr>
          <p:cNvPr id="19" name="Shape 17"/>
          <p:cNvSpPr/>
          <p:nvPr/>
        </p:nvSpPr>
        <p:spPr>
          <a:xfrm>
            <a:off x="8275320" y="3520440"/>
            <a:ext cx="384048" cy="384048"/>
          </a:xfrm>
          <a:prstGeom prst="ellipse">
            <a:avLst/>
          </a:prstGeom>
          <a:solidFill>
            <a:srgbClr val="C8A02C"/>
          </a:solidFill>
          <a:ln/>
        </p:spPr>
      </p:sp>
      <p:sp>
        <p:nvSpPr>
          <p:cNvPr id="20" name="Text 18"/>
          <p:cNvSpPr txBox="1"/>
          <p:nvPr/>
        </p:nvSpPr>
        <p:spPr>
          <a:xfrm>
            <a:off x="8275320" y="352044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8275320" y="4023360"/>
            <a:ext cx="3063240" cy="457200"/>
          </a:xfrm>
          <a:prstGeom prst="rect">
            <a:avLst/>
          </a:prstGeom>
          <a:noFill/>
          <a:ln/>
        </p:spPr>
        <p:txBody>
          <a:bodyPr wrap="square" lIns="0" tIns="0" rIns="0" bIns="0" rtlCol="0" anchor="ctr"/>
          <a:lstStyle/>
          <a:p>
            <a:pPr marL="0" indent="0">
              <a:buNone/>
            </a:pPr>
            <a:r>
              <a:rPr lang="en-US" sz="1500" b="1" dirty="0">
                <a:solidFill>
                  <a:srgbClr val="1B2A55"/>
                </a:solidFill>
                <a:latin typeface="Calibri" pitchFamily="34" charset="0"/>
                <a:ea typeface="Calibri" pitchFamily="34" charset="-122"/>
                <a:cs typeface="Calibri" pitchFamily="34" charset="-120"/>
              </a:rPr>
              <a:t>Why solve it now?</a:t>
            </a:r>
            <a:endParaRPr lang="en-US" sz="1500" dirty="0"/>
          </a:p>
        </p:txBody>
      </p:sp>
      <p:sp>
        <p:nvSpPr>
          <p:cNvPr id="22" name="Text 20"/>
          <p:cNvSpPr txBox="1"/>
          <p:nvPr/>
        </p:nvSpPr>
        <p:spPr>
          <a:xfrm>
            <a:off x="8275320" y="4526280"/>
            <a:ext cx="3063240" cy="1234440"/>
          </a:xfrm>
          <a:prstGeom prst="rect">
            <a:avLst/>
          </a:prstGeom>
          <a:noFill/>
          <a:ln/>
        </p:spPr>
        <p:txBody>
          <a:bodyPr wrap="square" lIns="0" tIns="0" rIns="0" bIns="0" rtlCol="0" anchor="ctr"/>
          <a:lstStyle/>
          <a:p>
            <a:pPr marL="0" indent="0">
              <a:buNone/>
            </a:pPr>
            <a:r>
              <a:rPr lang="en-US" sz="1250" dirty="0">
                <a:solidFill>
                  <a:srgbClr val="1F2430"/>
                </a:solidFill>
                <a:latin typeface="Calibri" pitchFamily="34" charset="0"/>
                <a:ea typeface="Calibri" pitchFamily="34" charset="-122"/>
                <a:cs typeface="Calibri" pitchFamily="34" charset="-120"/>
              </a:rPr>
              <a:t>Review volumes are growing fast, and free, well-documented ML libraries (scikit-learn, NLTK) now make automated sentiment classification easy to build and test.</a:t>
            </a:r>
            <a:endParaRPr lang="en-US" sz="1250" dirty="0"/>
          </a:p>
        </p:txBody>
      </p:sp>
      <p:sp>
        <p:nvSpPr>
          <p:cNvPr id="23" name="Text 21"/>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4" name="Text 22"/>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3</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Literature Survey</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Minimum 8-10 papers studied; show 4-5 of the most relevant here (2020 onwards, journals/conferences only - no blogs).</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5486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194560">
                  <a:extLst>
                    <a:ext uri="{9D8B030D-6E8A-4147-A177-3AD203B41FA5}">
                      <a16:colId xmlns:a16="http://schemas.microsoft.com/office/drawing/2014/main" val="20005"/>
                    </a:ext>
                  </a:extLst>
                </a:gridCol>
              </a:tblGrid>
              <a:tr h="411480">
                <a:tc>
                  <a:txBody>
                    <a:bodyPr/>
                    <a:lstStyle/>
                    <a:p>
                      <a:pPr marL="0" indent="0">
                        <a:buNone/>
                      </a:pPr>
                      <a:r>
                        <a:rPr lang="en-US" sz="1200" b="1" dirty="0">
                          <a:solidFill>
                            <a:srgbClr val="1F2430"/>
                          </a:solidFill>
                          <a:latin typeface="Calibri" pitchFamily="34" charset="0"/>
                          <a:ea typeface="Calibri" pitchFamily="34" charset="-122"/>
                          <a:cs typeface="Calibri" pitchFamily="34" charset="-120"/>
                        </a:rPr>
                        <a:t>S.No</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b="1" dirty="0">
                          <a:solidFill>
                            <a:srgbClr val="1F2430"/>
                          </a:solidFill>
                          <a:latin typeface="Calibri" pitchFamily="34" charset="0"/>
                          <a:ea typeface="Calibri" pitchFamily="34" charset="-122"/>
                          <a:cs typeface="Calibri" pitchFamily="34" charset="-120"/>
                        </a:rPr>
                        <a:t>Author &amp; Year</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b="1" dirty="0">
                          <a:solidFill>
                            <a:srgbClr val="1F2430"/>
                          </a:solidFill>
                          <a:latin typeface="Calibri" pitchFamily="34" charset="0"/>
                          <a:ea typeface="Calibri" pitchFamily="34" charset="-122"/>
                          <a:cs typeface="Calibri" pitchFamily="34" charset="-120"/>
                        </a:rPr>
                        <a:t>Title / Technique Used</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b="1" dirty="0">
                          <a:solidFill>
                            <a:srgbClr val="1F2430"/>
                          </a:solidFill>
                          <a:latin typeface="Calibri" pitchFamily="34" charset="0"/>
                          <a:ea typeface="Calibri" pitchFamily="34" charset="-122"/>
                          <a:cs typeface="Calibri" pitchFamily="34" charset="-120"/>
                        </a:rPr>
                        <a:t>Dataset / Tools</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b="1" dirty="0">
                          <a:solidFill>
                            <a:srgbClr val="1F2430"/>
                          </a:solidFill>
                          <a:latin typeface="Calibri" pitchFamily="34" charset="0"/>
                          <a:ea typeface="Calibri" pitchFamily="34" charset="-122"/>
                          <a:cs typeface="Calibri" pitchFamily="34" charset="-120"/>
                        </a:rPr>
                        <a:t>Key Findings</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b="1" dirty="0">
                          <a:solidFill>
                            <a:srgbClr val="1F2430"/>
                          </a:solidFill>
                          <a:latin typeface="Calibri" pitchFamily="34" charset="0"/>
                          <a:ea typeface="Calibri" pitchFamily="34" charset="-122"/>
                          <a:cs typeface="Calibri" pitchFamily="34" charset="-120"/>
                        </a:rPr>
                        <a:t>Limitation / Gap</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68680">
                <a:tc>
                  <a:txBody>
                    <a:bodyPr/>
                    <a:lstStyle/>
                    <a:p>
                      <a:r>
                        <a:rPr sz="1200"/>
                        <a:t>1</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Monsoor et al.</a:t>
                      </a:r>
                    </a:p>
                    <a:p>
                      <a:r>
                        <a:rPr sz="1200"/>
                        <a:t>(2023)</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Naive Bayes, SVM on review text</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Amazon reviews</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Classical ML reliably separated pos/neg reviews</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Struggles on short, slang-heavy text</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r>
                        <a:rPr sz="1200"/>
                        <a:t>2</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Chauhan et al.</a:t>
                      </a:r>
                    </a:p>
                    <a:p>
                      <a:r>
                        <a:rPr sz="1200"/>
                        <a:t>(2024)</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TF-IDF + ML pipeline</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Amazon reviews</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TF-IDF + ML scales well to large review sets</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No neutral class - only pos/neg</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r>
                        <a:rPr sz="1200"/>
                        <a:t>3</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Mamani-Coaquira &amp;</a:t>
                      </a:r>
                    </a:p>
                    <a:p>
                      <a:r>
                        <a:rPr sz="1200"/>
                        <a:t>Villanueva (2024)</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Survey: ML vs deep learning</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Multiple public datasets</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Compares ML vs DL trade-offs for text sentiment</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DL needs far more data &amp; compute</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r>
                        <a:rPr sz="1200"/>
                        <a:t>4</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Ashbaugh &amp; Zhang</a:t>
                      </a:r>
                    </a:p>
                    <a:p>
                      <a:r>
                        <a:rPr sz="1200"/>
                        <a:t>(2024)</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ML vs DL comparison</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Customer review data</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Classical ML competitive with DL at lower cost</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200"/>
                        <a:t>DL edges ahead only on nuanced text</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3"/>
          <p:cNvSpPr txBox="1"/>
          <p:nvPr/>
        </p:nvSpPr>
        <p:spPr>
          <a:xfrm>
            <a:off x="548640" y="5440680"/>
            <a:ext cx="11064240" cy="320040"/>
          </a:xfrm>
          <a:prstGeom prst="rect">
            <a:avLst/>
          </a:prstGeom>
          <a:noFill/>
          <a:ln/>
        </p:spPr>
        <p:txBody>
          <a:bodyPr wrap="square" lIns="0" tIns="0" rIns="0" bIns="0" rtlCol="0" anchor="ctr"/>
          <a:lstStyle/>
          <a:p>
            <a:pPr marL="0" indent="0">
              <a:buNone/>
            </a:pPr>
            <a:r>
              <a:rPr lang="en-US" sz="1250" b="1" i="1" dirty="0">
                <a:solidFill>
                  <a:srgbClr val="A4161A"/>
                </a:solidFill>
                <a:latin typeface="Calibri" pitchFamily="34" charset="0"/>
                <a:ea typeface="Calibri" pitchFamily="34" charset="-122"/>
                <a:cs typeface="Calibri" pitchFamily="34" charset="-120"/>
              </a:rPr>
              <a:t>The last column is the most important one - your research gap is built from it.</a:t>
            </a:r>
            <a:endParaRPr lang="en-US" sz="1250" dirty="0"/>
          </a:p>
        </p:txBody>
      </p:sp>
      <p:sp>
        <p:nvSpPr>
          <p:cNvPr id="7" name="Text 4"/>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8" name="Text 5"/>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4</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Research Gap Identified</a:t>
            </a:r>
            <a:endParaRPr lang="en-US" sz="3100" dirty="0"/>
          </a:p>
        </p:txBody>
      </p:sp>
      <p:sp>
        <p:nvSpPr>
          <p:cNvPr id="4" name="Shape 2"/>
          <p:cNvSpPr/>
          <p:nvPr/>
        </p:nvSpPr>
        <p:spPr>
          <a:xfrm>
            <a:off x="548640" y="1463040"/>
            <a:ext cx="6766560" cy="987552"/>
          </a:xfrm>
          <a:prstGeom prst="roundRect">
            <a:avLst>
              <a:gd name="adj" fmla="val 7407"/>
            </a:avLst>
          </a:prstGeom>
          <a:solidFill>
            <a:srgbClr val="F1F4F9"/>
          </a:solidFill>
          <a:ln w="12700">
            <a:solidFill>
              <a:srgbClr val="DDE3EC"/>
            </a:solidFill>
            <a:prstDash val="solid"/>
          </a:ln>
        </p:spPr>
      </p:sp>
      <p:sp>
        <p:nvSpPr>
          <p:cNvPr id="5" name="Text 3"/>
          <p:cNvSpPr txBox="1"/>
          <p:nvPr/>
        </p:nvSpPr>
        <p:spPr>
          <a:xfrm>
            <a:off x="868680" y="1591056"/>
            <a:ext cx="1828800" cy="237744"/>
          </a:xfrm>
          <a:prstGeom prst="rect">
            <a:avLst/>
          </a:prstGeom>
          <a:noFill/>
          <a:ln/>
        </p:spPr>
        <p:txBody>
          <a:bodyPr wrap="square" lIns="0" tIns="0" rIns="0" bIns="0" rtlCol="0" anchor="ctr"/>
          <a:lstStyle/>
          <a:p>
            <a:pPr marL="0" indent="0">
              <a:buNone/>
            </a:pPr>
            <a:r>
              <a:rPr lang="en-US" sz="1000" b="1" kern="0" spc="150" dirty="0">
                <a:solidFill>
                  <a:srgbClr val="C8A02C"/>
                </a:solidFill>
                <a:latin typeface="Calibri" pitchFamily="34" charset="0"/>
                <a:ea typeface="Calibri" pitchFamily="34" charset="-122"/>
                <a:cs typeface="Calibri" pitchFamily="34" charset="-120"/>
              </a:rPr>
              <a:t>GAP 1</a:t>
            </a:r>
            <a:endParaRPr lang="en-US" sz="1000" dirty="0"/>
          </a:p>
        </p:txBody>
      </p:sp>
      <p:sp>
        <p:nvSpPr>
          <p:cNvPr id="6" name="Text 4"/>
          <p:cNvSpPr txBox="1"/>
          <p:nvPr/>
        </p:nvSpPr>
        <p:spPr>
          <a:xfrm>
            <a:off x="868680" y="1847088"/>
            <a:ext cx="6172200" cy="502920"/>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Most studies test on one platform's reviews only (e.g. Amazon), so results may not carry over to reviews from Indian or multi-platform e-commerce sites.</a:t>
            </a:r>
            <a:endParaRPr lang="en-US" sz="1350" dirty="0"/>
          </a:p>
        </p:txBody>
      </p:sp>
      <p:sp>
        <p:nvSpPr>
          <p:cNvPr id="7" name="Shape 5"/>
          <p:cNvSpPr/>
          <p:nvPr/>
        </p:nvSpPr>
        <p:spPr>
          <a:xfrm>
            <a:off x="548640" y="2606040"/>
            <a:ext cx="6766560" cy="987552"/>
          </a:xfrm>
          <a:prstGeom prst="roundRect">
            <a:avLst>
              <a:gd name="adj" fmla="val 7407"/>
            </a:avLst>
          </a:prstGeom>
          <a:solidFill>
            <a:srgbClr val="F1F4F9"/>
          </a:solidFill>
          <a:ln w="12700">
            <a:solidFill>
              <a:srgbClr val="DDE3EC"/>
            </a:solidFill>
            <a:prstDash val="solid"/>
          </a:ln>
        </p:spPr>
      </p:sp>
      <p:sp>
        <p:nvSpPr>
          <p:cNvPr id="8" name="Text 6"/>
          <p:cNvSpPr txBox="1"/>
          <p:nvPr/>
        </p:nvSpPr>
        <p:spPr>
          <a:xfrm>
            <a:off x="868680" y="2734056"/>
            <a:ext cx="1828800" cy="237744"/>
          </a:xfrm>
          <a:prstGeom prst="rect">
            <a:avLst/>
          </a:prstGeom>
          <a:noFill/>
          <a:ln/>
        </p:spPr>
        <p:txBody>
          <a:bodyPr wrap="square" lIns="0" tIns="0" rIns="0" bIns="0" rtlCol="0" anchor="ctr"/>
          <a:lstStyle/>
          <a:p>
            <a:pPr marL="0" indent="0">
              <a:buNone/>
            </a:pPr>
            <a:r>
              <a:rPr lang="en-US" sz="1000" b="1" kern="0" spc="150" dirty="0">
                <a:solidFill>
                  <a:srgbClr val="C8A02C"/>
                </a:solidFill>
                <a:latin typeface="Calibri" pitchFamily="34" charset="0"/>
                <a:ea typeface="Calibri" pitchFamily="34" charset="-122"/>
                <a:cs typeface="Calibri" pitchFamily="34" charset="-120"/>
              </a:rPr>
              <a:t>GAP 2</a:t>
            </a:r>
            <a:endParaRPr lang="en-US" sz="1000" dirty="0"/>
          </a:p>
        </p:txBody>
      </p:sp>
      <p:sp>
        <p:nvSpPr>
          <p:cNvPr id="9" name="Text 7"/>
          <p:cNvSpPr txBox="1"/>
          <p:nvPr/>
        </p:nvSpPr>
        <p:spPr>
          <a:xfrm>
            <a:off x="868680" y="2990088"/>
            <a:ext cx="6172200" cy="502920"/>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Papers usually report just one classifier's accuracy instead of comparing several algorithms side by side to justify the final choice.</a:t>
            </a:r>
            <a:endParaRPr lang="en-US" sz="1350" dirty="0"/>
          </a:p>
        </p:txBody>
      </p:sp>
      <p:sp>
        <p:nvSpPr>
          <p:cNvPr id="10" name="Shape 8"/>
          <p:cNvSpPr/>
          <p:nvPr/>
        </p:nvSpPr>
        <p:spPr>
          <a:xfrm>
            <a:off x="548640" y="3749040"/>
            <a:ext cx="6766560" cy="987552"/>
          </a:xfrm>
          <a:prstGeom prst="roundRect">
            <a:avLst>
              <a:gd name="adj" fmla="val 7407"/>
            </a:avLst>
          </a:prstGeom>
          <a:solidFill>
            <a:srgbClr val="F1F4F9"/>
          </a:solidFill>
          <a:ln w="12700">
            <a:solidFill>
              <a:srgbClr val="DDE3EC"/>
            </a:solidFill>
            <a:prstDash val="solid"/>
          </a:ln>
        </p:spPr>
      </p:sp>
      <p:sp>
        <p:nvSpPr>
          <p:cNvPr id="11" name="Text 9"/>
          <p:cNvSpPr txBox="1"/>
          <p:nvPr/>
        </p:nvSpPr>
        <p:spPr>
          <a:xfrm>
            <a:off x="868680" y="3877056"/>
            <a:ext cx="1828800" cy="237744"/>
          </a:xfrm>
          <a:prstGeom prst="rect">
            <a:avLst/>
          </a:prstGeom>
          <a:noFill/>
          <a:ln/>
        </p:spPr>
        <p:txBody>
          <a:bodyPr wrap="square" lIns="0" tIns="0" rIns="0" bIns="0" rtlCol="0" anchor="ctr"/>
          <a:lstStyle/>
          <a:p>
            <a:pPr marL="0" indent="0">
              <a:buNone/>
            </a:pPr>
            <a:r>
              <a:rPr lang="en-US" sz="1000" b="1" kern="0" spc="150" dirty="0">
                <a:solidFill>
                  <a:srgbClr val="C8A02C"/>
                </a:solidFill>
                <a:latin typeface="Calibri" pitchFamily="34" charset="0"/>
                <a:ea typeface="Calibri" pitchFamily="34" charset="-122"/>
                <a:cs typeface="Calibri" pitchFamily="34" charset="-120"/>
              </a:rPr>
              <a:t>GAP 3</a:t>
            </a:r>
            <a:endParaRPr lang="en-US" sz="1000" dirty="0"/>
          </a:p>
        </p:txBody>
      </p:sp>
      <p:sp>
        <p:nvSpPr>
          <p:cNvPr id="12" name="Text 10"/>
          <p:cNvSpPr txBox="1"/>
          <p:nvPr/>
        </p:nvSpPr>
        <p:spPr>
          <a:xfrm>
            <a:off x="868680" y="4133088"/>
            <a:ext cx="6172200" cy="502920"/>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Few studies go beyond a notebook result - there is rarely a simple interface where a non-technical user can see sentiment results visually.</a:t>
            </a:r>
            <a:endParaRPr lang="en-US" sz="1350" dirty="0"/>
          </a:p>
        </p:txBody>
      </p:sp>
      <p:sp>
        <p:nvSpPr>
          <p:cNvPr id="13" name="Shape 11"/>
          <p:cNvSpPr/>
          <p:nvPr/>
        </p:nvSpPr>
        <p:spPr>
          <a:xfrm>
            <a:off x="7635240" y="1463040"/>
            <a:ext cx="3977640" cy="3502152"/>
          </a:xfrm>
          <a:prstGeom prst="roundRect">
            <a:avLst>
              <a:gd name="adj" fmla="val 2089"/>
            </a:avLst>
          </a:prstGeom>
          <a:solidFill>
            <a:srgbClr val="1B2A55"/>
          </a:solidFill>
          <a:ln w="12700">
            <a:solidFill>
              <a:srgbClr val="1B2A55"/>
            </a:solidFill>
            <a:prstDash val="solid"/>
          </a:ln>
        </p:spPr>
      </p:sp>
      <p:sp>
        <p:nvSpPr>
          <p:cNvPr id="14" name="Text 12"/>
          <p:cNvSpPr txBox="1"/>
          <p:nvPr/>
        </p:nvSpPr>
        <p:spPr>
          <a:xfrm>
            <a:off x="7909560" y="1691640"/>
            <a:ext cx="3429000" cy="274320"/>
          </a:xfrm>
          <a:prstGeom prst="rect">
            <a:avLst/>
          </a:prstGeom>
          <a:noFill/>
          <a:ln/>
        </p:spPr>
        <p:txBody>
          <a:bodyPr wrap="square" lIns="0" tIns="0" rIns="0" bIns="0" rtlCol="0" anchor="ctr"/>
          <a:lstStyle/>
          <a:p>
            <a:pPr marL="0" indent="0">
              <a:buNone/>
            </a:pPr>
            <a:r>
              <a:rPr lang="en-US" sz="1050" b="1" kern="0" spc="150" dirty="0">
                <a:solidFill>
                  <a:srgbClr val="C8A02C"/>
                </a:solidFill>
                <a:latin typeface="Calibri" pitchFamily="34" charset="0"/>
                <a:ea typeface="Calibri" pitchFamily="34" charset="-122"/>
                <a:cs typeface="Calibri" pitchFamily="34" charset="-120"/>
              </a:rPr>
              <a:t>OUR PROJECT ADDRESSES</a:t>
            </a:r>
            <a:endParaRPr lang="en-US" sz="1050" dirty="0"/>
          </a:p>
        </p:txBody>
      </p:sp>
      <p:sp>
        <p:nvSpPr>
          <p:cNvPr id="15" name="Text 13"/>
          <p:cNvSpPr txBox="1"/>
          <p:nvPr/>
        </p:nvSpPr>
        <p:spPr>
          <a:xfrm>
            <a:off x="7909560" y="2057400"/>
            <a:ext cx="3429000" cy="14630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Our project addresses the method and deployment gaps - it compares multiple ML classifiers on the same dataset and adds a visual dashboard so results are easy to interpret.</a:t>
            </a:r>
            <a:endParaRPr lang="en-US" sz="1800" dirty="0"/>
          </a:p>
        </p:txBody>
      </p:sp>
      <p:sp>
        <p:nvSpPr>
          <p:cNvPr id="16" name="Text 14"/>
          <p:cNvSpPr txBox="1"/>
          <p:nvPr/>
        </p:nvSpPr>
        <p:spPr>
          <a:xfrm>
            <a:off x="7909560" y="3977640"/>
            <a:ext cx="3429000" cy="822960"/>
          </a:xfrm>
          <a:prstGeom prst="rect">
            <a:avLst/>
          </a:prstGeom>
          <a:noFill/>
          <a:ln/>
        </p:spPr>
        <p:txBody>
          <a:bodyPr wrap="square" lIns="0" tIns="0" rIns="0" bIns="0" rtlCol="0" anchor="ctr"/>
          <a:lstStyle/>
          <a:p>
            <a:pPr marL="0" indent="0">
              <a:buNone/>
            </a:pPr>
            <a:r>
              <a:rPr lang="en-US" sz="1200" i="1" dirty="0">
                <a:solidFill>
                  <a:srgbClr val="AEBBD6"/>
                </a:solidFill>
                <a:latin typeface="Calibri" pitchFamily="34" charset="0"/>
                <a:ea typeface="Calibri" pitchFamily="34" charset="-122"/>
                <a:cs typeface="Calibri" pitchFamily="34" charset="-120"/>
              </a:rPr>
              <a:t>A gap is a sentence that begins with "No existing work has..." or "Existing work does not..."</a:t>
            </a:r>
            <a:endParaRPr lang="en-US" sz="1200" dirty="0"/>
          </a:p>
        </p:txBody>
      </p:sp>
      <p:sp>
        <p:nvSpPr>
          <p:cNvPr id="17" name="Text 15"/>
          <p:cNvSpPr txBox="1"/>
          <p:nvPr/>
        </p:nvSpPr>
        <p:spPr>
          <a:xfrm>
            <a:off x="548640" y="5120640"/>
            <a:ext cx="6766560" cy="73152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Rule: every gap here must come from the last column of the literature survey table. A gap you cannot trace to a paper will be rejected by the panel.</a:t>
            </a:r>
            <a:endParaRPr lang="en-US" sz="1250" dirty="0"/>
          </a:p>
        </p:txBody>
      </p:sp>
      <p:sp>
        <p:nvSpPr>
          <p:cNvPr id="18" name="Text 16"/>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9" name="Text 17"/>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5</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Objectives of the Project</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Write 3-4 objectives. Each one must start with an action verb and be something you can demonstrate by the final review.</a:t>
            </a:r>
            <a:endParaRPr lang="en-US" sz="1050" dirty="0"/>
          </a:p>
        </p:txBody>
      </p:sp>
      <p:sp>
        <p:nvSpPr>
          <p:cNvPr id="5" name="Shape 3"/>
          <p:cNvSpPr/>
          <p:nvPr/>
        </p:nvSpPr>
        <p:spPr>
          <a:xfrm>
            <a:off x="548640" y="1627632"/>
            <a:ext cx="11064240" cy="914400"/>
          </a:xfrm>
          <a:prstGeom prst="roundRect">
            <a:avLst>
              <a:gd name="adj" fmla="val 8000"/>
            </a:avLst>
          </a:prstGeom>
          <a:solidFill>
            <a:srgbClr val="F1F4F9"/>
          </a:solidFill>
          <a:ln w="12700">
            <a:solidFill>
              <a:srgbClr val="DDE3EC"/>
            </a:solidFill>
            <a:prstDash val="solid"/>
          </a:ln>
        </p:spPr>
      </p:sp>
      <p:sp>
        <p:nvSpPr>
          <p:cNvPr id="6" name="Shape 4"/>
          <p:cNvSpPr/>
          <p:nvPr/>
        </p:nvSpPr>
        <p:spPr>
          <a:xfrm>
            <a:off x="822960" y="1892808"/>
            <a:ext cx="384048" cy="384048"/>
          </a:xfrm>
          <a:prstGeom prst="ellipse">
            <a:avLst/>
          </a:prstGeom>
          <a:solidFill>
            <a:srgbClr val="C8A02C"/>
          </a:solidFill>
          <a:ln/>
        </p:spPr>
      </p:sp>
      <p:sp>
        <p:nvSpPr>
          <p:cNvPr id="7" name="Text 5"/>
          <p:cNvSpPr txBox="1"/>
          <p:nvPr/>
        </p:nvSpPr>
        <p:spPr>
          <a:xfrm>
            <a:off x="822960" y="189280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71600" y="1627632"/>
            <a:ext cx="9966960" cy="914400"/>
          </a:xfrm>
          <a:prstGeom prst="rect">
            <a:avLst/>
          </a:prstGeom>
          <a:noFill/>
          <a:ln/>
        </p:spPr>
        <p:txBody>
          <a:bodyPr wrap="square" lIns="0" tIns="0" rIns="0" bIns="0" rtlCol="0" anchor="ctr"/>
          <a:lstStyle/>
          <a:p>
            <a:pPr marL="0" indent="0">
              <a:buNone/>
            </a:pPr>
            <a:r>
              <a:rPr lang="en-US" sz="1450" b="1" dirty="0">
                <a:solidFill>
                  <a:srgbClr val="1B2A55"/>
                </a:solidFill>
                <a:latin typeface="Calibri" pitchFamily="34" charset="0"/>
                <a:ea typeface="Calibri" pitchFamily="34" charset="-122"/>
                <a:cs typeface="Calibri" pitchFamily="34" charset="-120"/>
              </a:rPr>
              <a:t>To collect / prepare </a:t>
            </a:r>
            <a:r>
              <a:rPr lang="en-US" sz="1450" dirty="0">
                <a:solidFill>
                  <a:srgbClr val="1F2430"/>
                </a:solidFill>
                <a:latin typeface="Calibri" pitchFamily="34" charset="0"/>
                <a:ea typeface="Calibri" pitchFamily="34" charset="-122"/>
                <a:cs typeface="Calibri" pitchFamily="34" charset="-120"/>
              </a:rPr>
              <a:t>a labelled customer review dataset covering positive, negative, and neutral opinions.</a:t>
            </a:r>
            <a:endParaRPr lang="en-US" sz="1450" dirty="0"/>
          </a:p>
        </p:txBody>
      </p:sp>
      <p:sp>
        <p:nvSpPr>
          <p:cNvPr id="9" name="Shape 7"/>
          <p:cNvSpPr/>
          <p:nvPr/>
        </p:nvSpPr>
        <p:spPr>
          <a:xfrm>
            <a:off x="548640" y="2706624"/>
            <a:ext cx="11064240" cy="914400"/>
          </a:xfrm>
          <a:prstGeom prst="roundRect">
            <a:avLst>
              <a:gd name="adj" fmla="val 8000"/>
            </a:avLst>
          </a:prstGeom>
          <a:solidFill>
            <a:srgbClr val="F1F4F9"/>
          </a:solidFill>
          <a:ln w="12700">
            <a:solidFill>
              <a:srgbClr val="DDE3EC"/>
            </a:solidFill>
            <a:prstDash val="solid"/>
          </a:ln>
        </p:spPr>
      </p:sp>
      <p:sp>
        <p:nvSpPr>
          <p:cNvPr id="10" name="Shape 8"/>
          <p:cNvSpPr/>
          <p:nvPr/>
        </p:nvSpPr>
        <p:spPr>
          <a:xfrm>
            <a:off x="822960" y="2971800"/>
            <a:ext cx="384048" cy="384048"/>
          </a:xfrm>
          <a:prstGeom prst="ellipse">
            <a:avLst/>
          </a:prstGeom>
          <a:solidFill>
            <a:srgbClr val="C8A02C"/>
          </a:solidFill>
          <a:ln/>
        </p:spPr>
      </p:sp>
      <p:sp>
        <p:nvSpPr>
          <p:cNvPr id="11" name="Text 9"/>
          <p:cNvSpPr txBox="1"/>
          <p:nvPr/>
        </p:nvSpPr>
        <p:spPr>
          <a:xfrm>
            <a:off x="822960" y="297180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371600" y="2706624"/>
            <a:ext cx="9966960" cy="914400"/>
          </a:xfrm>
          <a:prstGeom prst="rect">
            <a:avLst/>
          </a:prstGeom>
          <a:noFill/>
          <a:ln/>
        </p:spPr>
        <p:txBody>
          <a:bodyPr wrap="square" lIns="0" tIns="0" rIns="0" bIns="0" rtlCol="0" anchor="ctr"/>
          <a:lstStyle/>
          <a:p>
            <a:pPr marL="0" indent="0">
              <a:buNone/>
            </a:pPr>
            <a:r>
              <a:rPr lang="en-US" sz="1450" b="1" dirty="0">
                <a:solidFill>
                  <a:srgbClr val="1B2A55"/>
                </a:solidFill>
                <a:latin typeface="Calibri" pitchFamily="34" charset="0"/>
                <a:ea typeface="Calibri" pitchFamily="34" charset="-122"/>
                <a:cs typeface="Calibri" pitchFamily="34" charset="-120"/>
              </a:rPr>
              <a:t>To design &amp; implement </a:t>
            </a:r>
            <a:r>
              <a:rPr lang="en-US" sz="1450" dirty="0">
                <a:solidFill>
                  <a:srgbClr val="1F2430"/>
                </a:solidFill>
                <a:latin typeface="Calibri" pitchFamily="34" charset="0"/>
                <a:ea typeface="Calibri" pitchFamily="34" charset="-122"/>
                <a:cs typeface="Calibri" pitchFamily="34" charset="-120"/>
              </a:rPr>
              <a:t>text pre-processing and multiple ML classifiers (Naive Bayes, SVM, Logistic Regression) using TF-IDF features.</a:t>
            </a:r>
            <a:endParaRPr lang="en-US" sz="1450" dirty="0"/>
          </a:p>
        </p:txBody>
      </p:sp>
      <p:sp>
        <p:nvSpPr>
          <p:cNvPr id="13" name="Shape 11"/>
          <p:cNvSpPr/>
          <p:nvPr/>
        </p:nvSpPr>
        <p:spPr>
          <a:xfrm>
            <a:off x="548640" y="3785616"/>
            <a:ext cx="11064240" cy="914400"/>
          </a:xfrm>
          <a:prstGeom prst="roundRect">
            <a:avLst>
              <a:gd name="adj" fmla="val 8000"/>
            </a:avLst>
          </a:prstGeom>
          <a:solidFill>
            <a:srgbClr val="F1F4F9"/>
          </a:solidFill>
          <a:ln w="12700">
            <a:solidFill>
              <a:srgbClr val="DDE3EC"/>
            </a:solidFill>
            <a:prstDash val="solid"/>
          </a:ln>
        </p:spPr>
      </p:sp>
      <p:sp>
        <p:nvSpPr>
          <p:cNvPr id="14" name="Shape 12"/>
          <p:cNvSpPr/>
          <p:nvPr/>
        </p:nvSpPr>
        <p:spPr>
          <a:xfrm>
            <a:off x="822960" y="4050792"/>
            <a:ext cx="384048" cy="384048"/>
          </a:xfrm>
          <a:prstGeom prst="ellipse">
            <a:avLst/>
          </a:prstGeom>
          <a:solidFill>
            <a:srgbClr val="C8A02C"/>
          </a:solidFill>
          <a:ln/>
        </p:spPr>
      </p:sp>
      <p:sp>
        <p:nvSpPr>
          <p:cNvPr id="15" name="Text 13"/>
          <p:cNvSpPr txBox="1"/>
          <p:nvPr/>
        </p:nvSpPr>
        <p:spPr>
          <a:xfrm>
            <a:off x="822960" y="4050792"/>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371600" y="3785616"/>
            <a:ext cx="9966960" cy="914400"/>
          </a:xfrm>
          <a:prstGeom prst="rect">
            <a:avLst/>
          </a:prstGeom>
          <a:noFill/>
          <a:ln/>
        </p:spPr>
        <p:txBody>
          <a:bodyPr wrap="square" lIns="0" tIns="0" rIns="0" bIns="0" rtlCol="0" anchor="ctr"/>
          <a:lstStyle/>
          <a:p>
            <a:pPr marL="0" indent="0">
              <a:buNone/>
            </a:pPr>
            <a:r>
              <a:rPr lang="en-US" sz="1450" b="1" dirty="0">
                <a:solidFill>
                  <a:srgbClr val="1B2A55"/>
                </a:solidFill>
                <a:latin typeface="Calibri" pitchFamily="34" charset="0"/>
                <a:ea typeface="Calibri" pitchFamily="34" charset="-122"/>
                <a:cs typeface="Calibri" pitchFamily="34" charset="-120"/>
              </a:rPr>
              <a:t>To evaluate </a:t>
            </a:r>
            <a:r>
              <a:rPr lang="en-US" sz="1450" dirty="0">
                <a:solidFill>
                  <a:srgbClr val="1F2430"/>
                </a:solidFill>
                <a:latin typeface="Calibri" pitchFamily="34" charset="0"/>
                <a:ea typeface="Calibri" pitchFamily="34" charset="-122"/>
                <a:cs typeface="Calibri" pitchFamily="34" charset="-120"/>
              </a:rPr>
              <a:t>each model using accuracy, precision, recall, and F1-score, and pick the best performer.</a:t>
            </a:r>
            <a:endParaRPr lang="en-US" sz="1450" dirty="0"/>
          </a:p>
        </p:txBody>
      </p:sp>
      <p:sp>
        <p:nvSpPr>
          <p:cNvPr id="17" name="Shape 15"/>
          <p:cNvSpPr/>
          <p:nvPr/>
        </p:nvSpPr>
        <p:spPr>
          <a:xfrm>
            <a:off x="548640" y="4864608"/>
            <a:ext cx="11064240" cy="914400"/>
          </a:xfrm>
          <a:prstGeom prst="roundRect">
            <a:avLst>
              <a:gd name="adj" fmla="val 8000"/>
            </a:avLst>
          </a:prstGeom>
          <a:solidFill>
            <a:srgbClr val="F1F4F9"/>
          </a:solidFill>
          <a:ln w="12700">
            <a:solidFill>
              <a:srgbClr val="DDE3EC"/>
            </a:solidFill>
            <a:prstDash val="solid"/>
          </a:ln>
        </p:spPr>
      </p:sp>
      <p:sp>
        <p:nvSpPr>
          <p:cNvPr id="18" name="Shape 16"/>
          <p:cNvSpPr/>
          <p:nvPr/>
        </p:nvSpPr>
        <p:spPr>
          <a:xfrm>
            <a:off x="822960" y="5129784"/>
            <a:ext cx="384048" cy="384048"/>
          </a:xfrm>
          <a:prstGeom prst="ellipse">
            <a:avLst/>
          </a:prstGeom>
          <a:solidFill>
            <a:srgbClr val="C8A02C"/>
          </a:solidFill>
          <a:ln/>
        </p:spPr>
      </p:sp>
      <p:sp>
        <p:nvSpPr>
          <p:cNvPr id="19" name="Text 17"/>
          <p:cNvSpPr txBox="1"/>
          <p:nvPr/>
        </p:nvSpPr>
        <p:spPr>
          <a:xfrm>
            <a:off x="822960" y="5129784"/>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371600" y="4864608"/>
            <a:ext cx="9966960" cy="914400"/>
          </a:xfrm>
          <a:prstGeom prst="rect">
            <a:avLst/>
          </a:prstGeom>
          <a:noFill/>
          <a:ln/>
        </p:spPr>
        <p:txBody>
          <a:bodyPr wrap="square" lIns="0" tIns="0" rIns="0" bIns="0" rtlCol="0" anchor="ctr"/>
          <a:lstStyle/>
          <a:p>
            <a:pPr marL="0" indent="0">
              <a:buNone/>
            </a:pPr>
            <a:r>
              <a:rPr lang="en-US" sz="1450" b="1" dirty="0">
                <a:solidFill>
                  <a:srgbClr val="1B2A55"/>
                </a:solidFill>
                <a:latin typeface="Calibri" pitchFamily="34" charset="0"/>
                <a:ea typeface="Calibri" pitchFamily="34" charset="-122"/>
                <a:cs typeface="Calibri" pitchFamily="34" charset="-120"/>
              </a:rPr>
              <a:t>To deploy / demonstrate </a:t>
            </a:r>
            <a:r>
              <a:rPr lang="en-US" sz="1450" dirty="0">
                <a:solidFill>
                  <a:srgbClr val="1F2430"/>
                </a:solidFill>
                <a:latin typeface="Calibri" pitchFamily="34" charset="0"/>
                <a:ea typeface="Calibri" pitchFamily="34" charset="-122"/>
                <a:cs typeface="Calibri" pitchFamily="34" charset="-120"/>
              </a:rPr>
              <a:t>a simple dashboard that shows sentiment distribution charts and lets a user test a new review.</a:t>
            </a:r>
            <a:endParaRPr lang="en-US" sz="1450" dirty="0"/>
          </a:p>
        </p:txBody>
      </p:sp>
      <p:sp>
        <p:nvSpPr>
          <p:cNvPr id="21" name="Text 19"/>
          <p:cNvSpPr txBox="1"/>
          <p:nvPr/>
        </p:nvSpPr>
        <p:spPr>
          <a:xfrm>
            <a:off x="548640" y="5943600"/>
            <a:ext cx="11064240" cy="274320"/>
          </a:xfrm>
          <a:prstGeom prst="rect">
            <a:avLst/>
          </a:prstGeom>
          <a:noFill/>
          <a:ln/>
        </p:spPr>
        <p:txBody>
          <a:bodyPr wrap="square" lIns="0" tIns="0" rIns="0" bIns="0" rtlCol="0" anchor="ctr"/>
          <a:lstStyle/>
          <a:p>
            <a:pPr marL="0" indent="0">
              <a:buNone/>
            </a:pPr>
            <a:r>
              <a:rPr lang="en-US" sz="1200" i="1" dirty="0">
                <a:solidFill>
                  <a:srgbClr val="A4161A"/>
                </a:solidFill>
                <a:latin typeface="Calibri" pitchFamily="34" charset="0"/>
                <a:ea typeface="Calibri" pitchFamily="34" charset="-122"/>
                <a:cs typeface="Calibri" pitchFamily="34" charset="-120"/>
              </a:rPr>
              <a:t>Tip: objectives and results must match one-to-one at the final review.</a:t>
            </a:r>
            <a:endParaRPr lang="en-US" sz="1200" dirty="0"/>
          </a:p>
        </p:txBody>
      </p:sp>
      <p:sp>
        <p:nvSpPr>
          <p:cNvPr id="22" name="Text 20"/>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3" name="Text 21"/>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6</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Proposed System Architecture</a:t>
            </a:r>
            <a:endParaRPr lang="en-US" sz="3100" dirty="0"/>
          </a:p>
        </p:txBody>
      </p:sp>
      <p:sp>
        <p:nvSpPr>
          <p:cNvPr id="4" name="Shape 2"/>
          <p:cNvSpPr/>
          <p:nvPr/>
        </p:nvSpPr>
        <p:spPr>
          <a:xfrm>
            <a:off x="548640" y="1691640"/>
            <a:ext cx="2560320" cy="1737360"/>
          </a:xfrm>
          <a:prstGeom prst="roundRect">
            <a:avLst>
              <a:gd name="adj" fmla="val 4211"/>
            </a:avLst>
          </a:prstGeom>
          <a:solidFill>
            <a:srgbClr val="F1F4F9"/>
          </a:solidFill>
          <a:ln w="12700">
            <a:solidFill>
              <a:srgbClr val="DDE3EC"/>
            </a:solidFill>
            <a:prstDash val="solid"/>
          </a:ln>
        </p:spPr>
      </p:sp>
      <p:sp>
        <p:nvSpPr>
          <p:cNvPr id="5" name="Text 3"/>
          <p:cNvSpPr txBox="1"/>
          <p:nvPr/>
        </p:nvSpPr>
        <p:spPr>
          <a:xfrm>
            <a:off x="685800"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1B2A55"/>
                </a:solidFill>
                <a:latin typeface="Calibri" pitchFamily="34" charset="0"/>
                <a:ea typeface="Calibri" pitchFamily="34" charset="-122"/>
                <a:cs typeface="Calibri" pitchFamily="34" charset="-120"/>
              </a:rPr>
              <a:t>INPUT</a:t>
            </a:r>
            <a:endParaRPr lang="en-US" sz="1200" dirty="0"/>
          </a:p>
        </p:txBody>
      </p:sp>
      <p:sp>
        <p:nvSpPr>
          <p:cNvPr id="6" name="Text 4"/>
          <p:cNvSpPr txBox="1"/>
          <p:nvPr/>
        </p:nvSpPr>
        <p:spPr>
          <a:xfrm>
            <a:off x="685800" y="2286000"/>
            <a:ext cx="2286000" cy="1005840"/>
          </a:xfrm>
          <a:prstGeom prst="rect">
            <a:avLst/>
          </a:prstGeom>
          <a:noFill/>
          <a:ln/>
        </p:spPr>
        <p:txBody>
          <a:bodyPr wrap="square" lIns="0" tIns="0" rIns="0" bIns="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&lt; Raw customer</a:t>
            </a:r>
            <a:endParaRPr lang="en-US" sz="1200" dirty="0"/>
          </a:p>
          <a:p>
            <a:pPr marL="0" indent="0" algn="ctr">
              <a:buNone/>
            </a:pPr>
            <a:r>
              <a:rPr lang="en-US" sz="1200" dirty="0">
                <a:solidFill>
                  <a:srgbClr val="1F2430"/>
                </a:solidFill>
                <a:latin typeface="Calibri" pitchFamily="34" charset="0"/>
                <a:ea typeface="Calibri" pitchFamily="34" charset="-122"/>
                <a:cs typeface="Calibri" pitchFamily="34" charset="-120"/>
              </a:rPr>
              <a:t>reviews (CSV) &gt;</a:t>
            </a:r>
            <a:endParaRPr lang="en-US" sz="1200" dirty="0"/>
          </a:p>
        </p:txBody>
      </p:sp>
      <p:sp>
        <p:nvSpPr>
          <p:cNvPr id="7" name="Shape 5"/>
          <p:cNvSpPr/>
          <p:nvPr/>
        </p:nvSpPr>
        <p:spPr>
          <a:xfrm>
            <a:off x="3182112" y="2404872"/>
            <a:ext cx="201168" cy="310896"/>
          </a:xfrm>
          <a:prstGeom prst="rightArrow">
            <a:avLst/>
          </a:prstGeom>
          <a:solidFill>
            <a:srgbClr val="C8A02C"/>
          </a:solidFill>
          <a:ln w="12700">
            <a:solidFill>
              <a:srgbClr val="C8A02C"/>
            </a:solidFill>
            <a:prstDash val="solid"/>
          </a:ln>
        </p:spPr>
      </p:sp>
      <p:sp>
        <p:nvSpPr>
          <p:cNvPr id="8" name="Shape 6"/>
          <p:cNvSpPr/>
          <p:nvPr/>
        </p:nvSpPr>
        <p:spPr>
          <a:xfrm>
            <a:off x="3438144" y="1691640"/>
            <a:ext cx="2560320" cy="1737360"/>
          </a:xfrm>
          <a:prstGeom prst="roundRect">
            <a:avLst>
              <a:gd name="adj" fmla="val 4211"/>
            </a:avLst>
          </a:prstGeom>
          <a:solidFill>
            <a:srgbClr val="F1F4F9"/>
          </a:solidFill>
          <a:ln w="12700">
            <a:solidFill>
              <a:srgbClr val="DDE3EC"/>
            </a:solidFill>
            <a:prstDash val="solid"/>
          </a:ln>
        </p:spPr>
      </p:sp>
      <p:sp>
        <p:nvSpPr>
          <p:cNvPr id="9" name="Text 7"/>
          <p:cNvSpPr txBox="1"/>
          <p:nvPr/>
        </p:nvSpPr>
        <p:spPr>
          <a:xfrm>
            <a:off x="3575304"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1B2A55"/>
                </a:solidFill>
                <a:latin typeface="Calibri" pitchFamily="34" charset="0"/>
                <a:ea typeface="Calibri" pitchFamily="34" charset="-122"/>
                <a:cs typeface="Calibri" pitchFamily="34" charset="-120"/>
              </a:rPr>
              <a:t>PRE-PROCESSING</a:t>
            </a:r>
            <a:endParaRPr lang="en-US" sz="1200" dirty="0"/>
          </a:p>
        </p:txBody>
      </p:sp>
      <p:sp>
        <p:nvSpPr>
          <p:cNvPr id="10" name="Text 8"/>
          <p:cNvSpPr txBox="1"/>
          <p:nvPr/>
        </p:nvSpPr>
        <p:spPr>
          <a:xfrm>
            <a:off x="3575304" y="2286000"/>
            <a:ext cx="2286000" cy="1005840"/>
          </a:xfrm>
          <a:prstGeom prst="rect">
            <a:avLst/>
          </a:prstGeom>
          <a:noFill/>
          <a:ln/>
        </p:spPr>
        <p:txBody>
          <a:bodyPr wrap="square" lIns="0" tIns="0" rIns="0" bIns="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&lt; Cleaning text,</a:t>
            </a:r>
            <a:endParaRPr lang="en-US" sz="1200" dirty="0"/>
          </a:p>
          <a:p>
            <a:pPr marL="0" indent="0" algn="ctr">
              <a:buNone/>
            </a:pPr>
            <a:r>
              <a:rPr lang="en-US" sz="1200" dirty="0">
                <a:solidFill>
                  <a:srgbClr val="1F2430"/>
                </a:solidFill>
                <a:latin typeface="Calibri" pitchFamily="34" charset="0"/>
                <a:ea typeface="Calibri" pitchFamily="34" charset="-122"/>
                <a:cs typeface="Calibri" pitchFamily="34" charset="-120"/>
              </a:rPr>
              <a:t>removing stopwords, TF-IDF &gt;</a:t>
            </a:r>
            <a:endParaRPr lang="en-US" sz="1200" dirty="0"/>
          </a:p>
        </p:txBody>
      </p:sp>
      <p:sp>
        <p:nvSpPr>
          <p:cNvPr id="11" name="Shape 9"/>
          <p:cNvSpPr/>
          <p:nvPr/>
        </p:nvSpPr>
        <p:spPr>
          <a:xfrm>
            <a:off x="6071616" y="2404872"/>
            <a:ext cx="201168" cy="310896"/>
          </a:xfrm>
          <a:prstGeom prst="rightArrow">
            <a:avLst/>
          </a:prstGeom>
          <a:solidFill>
            <a:srgbClr val="C8A02C"/>
          </a:solidFill>
          <a:ln w="12700">
            <a:solidFill>
              <a:srgbClr val="C8A02C"/>
            </a:solidFill>
            <a:prstDash val="solid"/>
          </a:ln>
        </p:spPr>
      </p:sp>
      <p:sp>
        <p:nvSpPr>
          <p:cNvPr id="12" name="Shape 10"/>
          <p:cNvSpPr/>
          <p:nvPr/>
        </p:nvSpPr>
        <p:spPr>
          <a:xfrm>
            <a:off x="6327648" y="1691640"/>
            <a:ext cx="2560320" cy="1737360"/>
          </a:xfrm>
          <a:prstGeom prst="roundRect">
            <a:avLst>
              <a:gd name="adj" fmla="val 4211"/>
            </a:avLst>
          </a:prstGeom>
          <a:solidFill>
            <a:srgbClr val="1B2A55"/>
          </a:solidFill>
          <a:ln w="12700">
            <a:solidFill>
              <a:srgbClr val="1B2A55"/>
            </a:solidFill>
            <a:prstDash val="solid"/>
          </a:ln>
        </p:spPr>
      </p:sp>
      <p:sp>
        <p:nvSpPr>
          <p:cNvPr id="13" name="Text 11"/>
          <p:cNvSpPr txBox="1"/>
          <p:nvPr/>
        </p:nvSpPr>
        <p:spPr>
          <a:xfrm>
            <a:off x="6464808"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C8A02C"/>
                </a:solidFill>
                <a:latin typeface="Calibri" pitchFamily="34" charset="0"/>
                <a:ea typeface="Calibri" pitchFamily="34" charset="-122"/>
                <a:cs typeface="Calibri" pitchFamily="34" charset="-120"/>
              </a:rPr>
              <a:t>CORE MODULE</a:t>
            </a:r>
            <a:endParaRPr lang="en-US" sz="1200" dirty="0"/>
          </a:p>
        </p:txBody>
      </p:sp>
      <p:sp>
        <p:nvSpPr>
          <p:cNvPr id="14" name="Text 12"/>
          <p:cNvSpPr txBox="1"/>
          <p:nvPr/>
        </p:nvSpPr>
        <p:spPr>
          <a:xfrm>
            <a:off x="6464808" y="2286000"/>
            <a:ext cx="2286000" cy="10058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&lt; ML classifier -</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Naive Bayes / SVM / Logistic Regression &gt;</a:t>
            </a:r>
            <a:endParaRPr lang="en-US" sz="1200" dirty="0"/>
          </a:p>
        </p:txBody>
      </p:sp>
      <p:sp>
        <p:nvSpPr>
          <p:cNvPr id="15" name="Shape 13"/>
          <p:cNvSpPr/>
          <p:nvPr/>
        </p:nvSpPr>
        <p:spPr>
          <a:xfrm>
            <a:off x="8961120" y="2404872"/>
            <a:ext cx="201168" cy="310896"/>
          </a:xfrm>
          <a:prstGeom prst="rightArrow">
            <a:avLst/>
          </a:prstGeom>
          <a:solidFill>
            <a:srgbClr val="C8A02C"/>
          </a:solidFill>
          <a:ln w="12700">
            <a:solidFill>
              <a:srgbClr val="C8A02C"/>
            </a:solidFill>
            <a:prstDash val="solid"/>
          </a:ln>
        </p:spPr>
      </p:sp>
      <p:sp>
        <p:nvSpPr>
          <p:cNvPr id="16" name="Shape 14"/>
          <p:cNvSpPr/>
          <p:nvPr/>
        </p:nvSpPr>
        <p:spPr>
          <a:xfrm>
            <a:off x="9217152" y="1691640"/>
            <a:ext cx="2560320" cy="1737360"/>
          </a:xfrm>
          <a:prstGeom prst="roundRect">
            <a:avLst>
              <a:gd name="adj" fmla="val 4211"/>
            </a:avLst>
          </a:prstGeom>
          <a:solidFill>
            <a:srgbClr val="F1F4F9"/>
          </a:solidFill>
          <a:ln w="12700">
            <a:solidFill>
              <a:srgbClr val="DDE3EC"/>
            </a:solidFill>
            <a:prstDash val="solid"/>
          </a:ln>
        </p:spPr>
      </p:sp>
      <p:sp>
        <p:nvSpPr>
          <p:cNvPr id="17" name="Text 15"/>
          <p:cNvSpPr txBox="1"/>
          <p:nvPr/>
        </p:nvSpPr>
        <p:spPr>
          <a:xfrm>
            <a:off x="9354312"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1B2A55"/>
                </a:solidFill>
                <a:latin typeface="Calibri" pitchFamily="34" charset="0"/>
                <a:ea typeface="Calibri" pitchFamily="34" charset="-122"/>
                <a:cs typeface="Calibri" pitchFamily="34" charset="-120"/>
              </a:rPr>
              <a:t>OUTPUT</a:t>
            </a:r>
            <a:endParaRPr lang="en-US" sz="1200" dirty="0"/>
          </a:p>
        </p:txBody>
      </p:sp>
      <p:sp>
        <p:nvSpPr>
          <p:cNvPr id="18" name="Text 16"/>
          <p:cNvSpPr txBox="1"/>
          <p:nvPr/>
        </p:nvSpPr>
        <p:spPr>
          <a:xfrm>
            <a:off x="9354312" y="2286000"/>
            <a:ext cx="2286000" cy="1005840"/>
          </a:xfrm>
          <a:prstGeom prst="rect">
            <a:avLst/>
          </a:prstGeom>
          <a:noFill/>
          <a:ln/>
        </p:spPr>
        <p:txBody>
          <a:bodyPr wrap="square" lIns="0" tIns="0" rIns="0" bIns="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&lt; Sentiment label +</a:t>
            </a:r>
            <a:endParaRPr lang="en-US" sz="1200" dirty="0"/>
          </a:p>
          <a:p>
            <a:pPr marL="0" indent="0" algn="ctr">
              <a:buNone/>
            </a:pPr>
            <a:r>
              <a:rPr lang="en-US" sz="1200" dirty="0">
                <a:solidFill>
                  <a:srgbClr val="1F2430"/>
                </a:solidFill>
                <a:latin typeface="Calibri" pitchFamily="34" charset="0"/>
                <a:ea typeface="Calibri" pitchFamily="34" charset="-122"/>
                <a:cs typeface="Calibri" pitchFamily="34" charset="-120"/>
              </a:rPr>
              <a:t>charts on a dashboard &gt;</a:t>
            </a:r>
            <a:endParaRPr lang="en-US" sz="1200" dirty="0"/>
          </a:p>
        </p:txBody>
      </p:sp>
      <p:sp>
        <p:nvSpPr>
          <p:cNvPr id="40" name="DiagBox0"/>
          <p:cNvSpPr/>
          <p:nvPr/>
        </p:nvSpPr>
        <p:spPr>
          <a:xfrm>
            <a:off x="548640" y="3929040"/>
            <a:ext cx="1650000" cy="900000"/>
          </a:xfrm>
          <a:prstGeom prst="roundRect">
            <a:avLst>
              <a:gd name="adj" fmla="val 4000"/>
            </a:avLst>
          </a:prstGeom>
          <a:solidFill>
            <a:srgbClr val="F1F4F9"/>
          </a:solidFill>
          <a:ln w="12700">
            <a:solidFill>
              <a:srgbClr val="DDE3EC"/>
            </a:solidFill>
            <a:prstDash val="solid"/>
          </a:ln>
        </p:spPr>
      </p:sp>
      <p:sp>
        <p:nvSpPr>
          <p:cNvPr id="41" name="DiagTitle0"/>
          <p:cNvSpPr txBox="1"/>
          <p:nvPr/>
        </p:nvSpPr>
        <p:spPr>
          <a:xfrm>
            <a:off x="648640" y="4069040"/>
            <a:ext cx="1450000" cy="280000"/>
          </a:xfrm>
          <a:prstGeom prst="rect">
            <a:avLst/>
          </a:prstGeom>
          <a:noFill/>
          <a:ln/>
        </p:spPr>
        <p:txBody>
          <a:bodyPr wrap="square" lIns="0" tIns="0" rIns="0" bIns="0" rtlCol="0" anchor="ctr"/>
          <a:lstStyle/>
          <a:p>
            <a:pPr marL="0" indent="0" algn="ctr">
              <a:buNone/>
            </a:pPr>
            <a:r>
              <a:rPr lang="en-US" sz="1050" b="1" spc="100" kern="0" dirty="0">
                <a:solidFill>
                  <a:srgbClr val="1B2A55"/>
                </a:solidFill>
                <a:latin typeface="Calibri" pitchFamily="34" charset="0"/>
                <a:ea typeface="Calibri" pitchFamily="34" charset="-122"/>
                <a:cs typeface="Calibri" pitchFamily="34" charset="-120"/>
              </a:rPr>
              <a:t>RAW REVIEWS</a:t>
            </a:r>
            <a:endParaRPr lang="en-US" sz="1050" dirty="0"/>
          </a:p>
        </p:txBody>
      </p:sp>
      <p:sp>
        <p:nvSpPr>
          <p:cNvPr id="42" name="DiagSub0"/>
          <p:cNvSpPr txBox="1"/>
          <p:nvPr/>
        </p:nvSpPr>
        <p:spPr>
          <a:xfrm>
            <a:off x="648640" y="4369040"/>
            <a:ext cx="1450000" cy="400000"/>
          </a:xfrm>
          <a:prstGeom prst="rect">
            <a:avLst/>
          </a:prstGeom>
          <a:noFill/>
          <a:ln/>
        </p:spPr>
        <p:txBody>
          <a:bodyPr wrap="square" lIns="0" tIns="0" rIns="0" bIns="0" rtlCol="0" anchor="ctr"/>
          <a:lstStyle/>
          <a:p>
            <a:pPr marL="0" indent="0" algn="ctr">
              <a:buNone/>
            </a:pPr>
            <a:r>
              <a:rPr lang="en-US" sz="950" kern="0" dirty="0">
                <a:solidFill>
                  <a:srgbClr val="1F2430"/>
                </a:solidFill>
                <a:latin typeface="Calibri" pitchFamily="34" charset="0"/>
                <a:ea typeface="Calibri" pitchFamily="34" charset="-122"/>
                <a:cs typeface="Calibri" pitchFamily="34" charset="-120"/>
              </a:rPr>
              <a:t>&lt; CSV / JSON</a:t>
            </a:r>
            <a:endParaRPr lang="en-US" sz="950" dirty="0"/>
          </a:p>
          <a:p>
            <a:pPr marL="0" indent="0" algn="ctr">
              <a:buNone/>
            </a:pPr>
            <a:r>
              <a:rPr lang="en-US" sz="950" kern="0" dirty="0">
                <a:solidFill>
                  <a:srgbClr val="1F2430"/>
                </a:solidFill>
                <a:latin typeface="Calibri" pitchFamily="34" charset="0"/>
                <a:ea typeface="Calibri" pitchFamily="34" charset="-122"/>
                <a:cs typeface="Calibri" pitchFamily="34" charset="-120"/>
              </a:rPr>
              <a:t>input &gt;</a:t>
            </a:r>
            <a:endParaRPr lang="en-US" sz="950" dirty="0"/>
          </a:p>
        </p:txBody>
      </p:sp>
      <p:sp>
        <p:nvSpPr>
          <p:cNvPr id="43" name="DiagArrow0"/>
          <p:cNvSpPr/>
          <p:nvPr/>
        </p:nvSpPr>
        <p:spPr>
          <a:xfrm>
            <a:off x="2213640" y="4239040"/>
            <a:ext cx="180000" cy="280000"/>
          </a:xfrm>
          <a:prstGeom prst="rightArrow">
            <a:avLst/>
          </a:prstGeom>
          <a:solidFill>
            <a:srgbClr val="C8A02C"/>
          </a:solidFill>
          <a:ln w="12700">
            <a:solidFill>
              <a:srgbClr val="C8A02C"/>
            </a:solidFill>
            <a:prstDash val="solid"/>
          </a:ln>
        </p:spPr>
      </p:sp>
      <p:sp>
        <p:nvSpPr>
          <p:cNvPr id="44" name="DiagBox1"/>
          <p:cNvSpPr/>
          <p:nvPr/>
        </p:nvSpPr>
        <p:spPr>
          <a:xfrm>
            <a:off x="2408640" y="3929040"/>
            <a:ext cx="1650000" cy="900000"/>
          </a:xfrm>
          <a:prstGeom prst="roundRect">
            <a:avLst>
              <a:gd name="adj" fmla="val 4000"/>
            </a:avLst>
          </a:prstGeom>
          <a:solidFill>
            <a:srgbClr val="F1F4F9"/>
          </a:solidFill>
          <a:ln w="12700">
            <a:solidFill>
              <a:srgbClr val="DDE3EC"/>
            </a:solidFill>
            <a:prstDash val="solid"/>
          </a:ln>
        </p:spPr>
      </p:sp>
      <p:sp>
        <p:nvSpPr>
          <p:cNvPr id="45" name="DiagTitle1"/>
          <p:cNvSpPr txBox="1"/>
          <p:nvPr/>
        </p:nvSpPr>
        <p:spPr>
          <a:xfrm>
            <a:off x="2508640" y="4069040"/>
            <a:ext cx="1450000" cy="280000"/>
          </a:xfrm>
          <a:prstGeom prst="rect">
            <a:avLst/>
          </a:prstGeom>
          <a:noFill/>
          <a:ln/>
        </p:spPr>
        <p:txBody>
          <a:bodyPr wrap="square" lIns="0" tIns="0" rIns="0" bIns="0" rtlCol="0" anchor="ctr"/>
          <a:lstStyle/>
          <a:p>
            <a:pPr marL="0" indent="0" algn="ctr">
              <a:buNone/>
            </a:pPr>
            <a:r>
              <a:rPr lang="en-US" sz="1050" b="1" spc="100" kern="0" dirty="0">
                <a:solidFill>
                  <a:srgbClr val="1B2A55"/>
                </a:solidFill>
                <a:latin typeface="Calibri" pitchFamily="34" charset="0"/>
                <a:ea typeface="Calibri" pitchFamily="34" charset="-122"/>
                <a:cs typeface="Calibri" pitchFamily="34" charset="-120"/>
              </a:rPr>
              <a:t>PRE-PROCESSING</a:t>
            </a:r>
            <a:endParaRPr lang="en-US" sz="1050" dirty="0"/>
          </a:p>
        </p:txBody>
      </p:sp>
      <p:sp>
        <p:nvSpPr>
          <p:cNvPr id="46" name="DiagSub1"/>
          <p:cNvSpPr txBox="1"/>
          <p:nvPr/>
        </p:nvSpPr>
        <p:spPr>
          <a:xfrm>
            <a:off x="2508640" y="4369040"/>
            <a:ext cx="1450000" cy="400000"/>
          </a:xfrm>
          <a:prstGeom prst="rect">
            <a:avLst/>
          </a:prstGeom>
          <a:noFill/>
          <a:ln/>
        </p:spPr>
        <p:txBody>
          <a:bodyPr wrap="square" lIns="0" tIns="0" rIns="0" bIns="0" rtlCol="0" anchor="ctr"/>
          <a:lstStyle/>
          <a:p>
            <a:pPr marL="0" indent="0" algn="ctr">
              <a:buNone/>
            </a:pPr>
            <a:r>
              <a:rPr lang="en-US" sz="950" kern="0" dirty="0">
                <a:solidFill>
                  <a:srgbClr val="1F2430"/>
                </a:solidFill>
                <a:latin typeface="Calibri" pitchFamily="34" charset="0"/>
                <a:ea typeface="Calibri" pitchFamily="34" charset="-122"/>
                <a:cs typeface="Calibri" pitchFamily="34" charset="-120"/>
              </a:rPr>
              <a:t>&lt; Clean text +</a:t>
            </a:r>
            <a:endParaRPr lang="en-US" sz="950" dirty="0"/>
          </a:p>
          <a:p>
            <a:pPr marL="0" indent="0" algn="ctr">
              <a:buNone/>
            </a:pPr>
            <a:r>
              <a:rPr lang="en-US" sz="950" kern="0" dirty="0">
                <a:solidFill>
                  <a:srgbClr val="1F2430"/>
                </a:solidFill>
                <a:latin typeface="Calibri" pitchFamily="34" charset="0"/>
                <a:ea typeface="Calibri" pitchFamily="34" charset="-122"/>
                <a:cs typeface="Calibri" pitchFamily="34" charset="-120"/>
              </a:rPr>
              <a:t>TF-IDF vectors &gt;</a:t>
            </a:r>
            <a:endParaRPr lang="en-US" sz="950" dirty="0"/>
          </a:p>
        </p:txBody>
      </p:sp>
      <p:sp>
        <p:nvSpPr>
          <p:cNvPr id="47" name="DiagArrow1"/>
          <p:cNvSpPr/>
          <p:nvPr/>
        </p:nvSpPr>
        <p:spPr>
          <a:xfrm>
            <a:off x="4073640" y="4239040"/>
            <a:ext cx="180000" cy="280000"/>
          </a:xfrm>
          <a:prstGeom prst="rightArrow">
            <a:avLst/>
          </a:prstGeom>
          <a:solidFill>
            <a:srgbClr val="C8A02C"/>
          </a:solidFill>
          <a:ln w="12700">
            <a:solidFill>
              <a:srgbClr val="C8A02C"/>
            </a:solidFill>
            <a:prstDash val="solid"/>
          </a:ln>
        </p:spPr>
      </p:sp>
      <p:sp>
        <p:nvSpPr>
          <p:cNvPr id="48" name="DiagBox2"/>
          <p:cNvSpPr/>
          <p:nvPr/>
        </p:nvSpPr>
        <p:spPr>
          <a:xfrm>
            <a:off x="4268640" y="3929040"/>
            <a:ext cx="1650000" cy="900000"/>
          </a:xfrm>
          <a:prstGeom prst="roundRect">
            <a:avLst>
              <a:gd name="adj" fmla="val 4000"/>
            </a:avLst>
          </a:prstGeom>
          <a:solidFill>
            <a:srgbClr val="1B2A55"/>
          </a:solidFill>
          <a:ln w="12700">
            <a:solidFill>
              <a:srgbClr val="1B2A55"/>
            </a:solidFill>
            <a:prstDash val="solid"/>
          </a:ln>
        </p:spPr>
      </p:sp>
      <p:sp>
        <p:nvSpPr>
          <p:cNvPr id="49" name="DiagTitle2"/>
          <p:cNvSpPr txBox="1"/>
          <p:nvPr/>
        </p:nvSpPr>
        <p:spPr>
          <a:xfrm>
            <a:off x="4368640" y="4069040"/>
            <a:ext cx="1450000" cy="280000"/>
          </a:xfrm>
          <a:prstGeom prst="rect">
            <a:avLst/>
          </a:prstGeom>
          <a:noFill/>
          <a:ln/>
        </p:spPr>
        <p:txBody>
          <a:bodyPr wrap="square" lIns="0" tIns="0" rIns="0" bIns="0" rtlCol="0" anchor="ctr"/>
          <a:lstStyle/>
          <a:p>
            <a:pPr marL="0" indent="0" algn="ctr">
              <a:buNone/>
            </a:pPr>
            <a:r>
              <a:rPr lang="en-US" sz="1050" b="1" spc="100" kern="0" dirty="0">
                <a:solidFill>
                  <a:srgbClr val="C8A02C"/>
                </a:solidFill>
                <a:latin typeface="Calibri" pitchFamily="34" charset="0"/>
                <a:ea typeface="Calibri" pitchFamily="34" charset="-122"/>
                <a:cs typeface="Calibri" pitchFamily="34" charset="-120"/>
              </a:rPr>
              <a:t>ML CLASSIFIER</a:t>
            </a:r>
            <a:endParaRPr lang="en-US" sz="1050" dirty="0"/>
          </a:p>
        </p:txBody>
      </p:sp>
      <p:sp>
        <p:nvSpPr>
          <p:cNvPr id="50" name="DiagSub2"/>
          <p:cNvSpPr txBox="1"/>
          <p:nvPr/>
        </p:nvSpPr>
        <p:spPr>
          <a:xfrm>
            <a:off x="4368640" y="4369040"/>
            <a:ext cx="1450000" cy="400000"/>
          </a:xfrm>
          <a:prstGeom prst="rect">
            <a:avLst/>
          </a:prstGeom>
          <a:noFill/>
          <a:ln/>
        </p:spPr>
        <p:txBody>
          <a:bodyPr wrap="square" lIns="0" tIns="0" rIns="0" bIns="0" rtlCol="0" anchor="ctr"/>
          <a:lstStyle/>
          <a:p>
            <a:pPr marL="0" indent="0" algn="ctr">
              <a:buNone/>
            </a:pPr>
            <a:r>
              <a:rPr lang="en-US" sz="950" kern="0" dirty="0">
                <a:solidFill>
                  <a:srgbClr val="FFFFFF"/>
                </a:solidFill>
                <a:latin typeface="Calibri" pitchFamily="34" charset="0"/>
                <a:ea typeface="Calibri" pitchFamily="34" charset="-122"/>
                <a:cs typeface="Calibri" pitchFamily="34" charset="-120"/>
              </a:rPr>
              <a:t>&lt; Naive Bayes /</a:t>
            </a:r>
            <a:endParaRPr lang="en-US" sz="950" dirty="0"/>
          </a:p>
          <a:p>
            <a:pPr marL="0" indent="0" algn="ctr">
              <a:buNone/>
            </a:pPr>
            <a:r>
              <a:rPr lang="en-US" sz="950" kern="0" dirty="0">
                <a:solidFill>
                  <a:srgbClr val="FFFFFF"/>
                </a:solidFill>
                <a:latin typeface="Calibri" pitchFamily="34" charset="0"/>
                <a:ea typeface="Calibri" pitchFamily="34" charset="-122"/>
                <a:cs typeface="Calibri" pitchFamily="34" charset="-120"/>
              </a:rPr>
              <a:t>SVM / Logistic Reg &gt;</a:t>
            </a:r>
            <a:endParaRPr lang="en-US" sz="950" dirty="0"/>
          </a:p>
        </p:txBody>
      </p:sp>
      <p:sp>
        <p:nvSpPr>
          <p:cNvPr id="51" name="DiagArrow2"/>
          <p:cNvSpPr/>
          <p:nvPr/>
        </p:nvSpPr>
        <p:spPr>
          <a:xfrm>
            <a:off x="5933640" y="4239040"/>
            <a:ext cx="180000" cy="280000"/>
          </a:xfrm>
          <a:prstGeom prst="rightArrow">
            <a:avLst/>
          </a:prstGeom>
          <a:solidFill>
            <a:srgbClr val="C8A02C"/>
          </a:solidFill>
          <a:ln w="12700">
            <a:solidFill>
              <a:srgbClr val="C8A02C"/>
            </a:solidFill>
            <a:prstDash val="solid"/>
          </a:ln>
        </p:spPr>
      </p:sp>
      <p:sp>
        <p:nvSpPr>
          <p:cNvPr id="52" name="DiagBox3"/>
          <p:cNvSpPr/>
          <p:nvPr/>
        </p:nvSpPr>
        <p:spPr>
          <a:xfrm>
            <a:off x="6128640" y="3929040"/>
            <a:ext cx="1650000" cy="900000"/>
          </a:xfrm>
          <a:prstGeom prst="roundRect">
            <a:avLst>
              <a:gd name="adj" fmla="val 4000"/>
            </a:avLst>
          </a:prstGeom>
          <a:solidFill>
            <a:srgbClr val="F1F4F9"/>
          </a:solidFill>
          <a:ln w="12700">
            <a:solidFill>
              <a:srgbClr val="DDE3EC"/>
            </a:solidFill>
            <a:prstDash val="solid"/>
          </a:ln>
        </p:spPr>
      </p:sp>
      <p:sp>
        <p:nvSpPr>
          <p:cNvPr id="53" name="DiagTitle3"/>
          <p:cNvSpPr txBox="1"/>
          <p:nvPr/>
        </p:nvSpPr>
        <p:spPr>
          <a:xfrm>
            <a:off x="6228640" y="4069040"/>
            <a:ext cx="1450000" cy="280000"/>
          </a:xfrm>
          <a:prstGeom prst="rect">
            <a:avLst/>
          </a:prstGeom>
          <a:noFill/>
          <a:ln/>
        </p:spPr>
        <p:txBody>
          <a:bodyPr wrap="square" lIns="0" tIns="0" rIns="0" bIns="0" rtlCol="0" anchor="ctr"/>
          <a:lstStyle/>
          <a:p>
            <a:pPr marL="0" indent="0" algn="ctr">
              <a:buNone/>
            </a:pPr>
            <a:r>
              <a:rPr lang="en-US" sz="1050" b="1" spc="100" kern="0" dirty="0">
                <a:solidFill>
                  <a:srgbClr val="1B2A55"/>
                </a:solidFill>
                <a:latin typeface="Calibri" pitchFamily="34" charset="0"/>
                <a:ea typeface="Calibri" pitchFamily="34" charset="-122"/>
                <a:cs typeface="Calibri" pitchFamily="34" charset="-120"/>
              </a:rPr>
              <a:t>DASHBOARD</a:t>
            </a:r>
            <a:endParaRPr lang="en-US" sz="1050" dirty="0"/>
          </a:p>
        </p:txBody>
      </p:sp>
      <p:sp>
        <p:nvSpPr>
          <p:cNvPr id="54" name="DiagSub3"/>
          <p:cNvSpPr txBox="1"/>
          <p:nvPr/>
        </p:nvSpPr>
        <p:spPr>
          <a:xfrm>
            <a:off x="6228640" y="4369040"/>
            <a:ext cx="1450000" cy="400000"/>
          </a:xfrm>
          <a:prstGeom prst="rect">
            <a:avLst/>
          </a:prstGeom>
          <a:noFill/>
          <a:ln/>
        </p:spPr>
        <p:txBody>
          <a:bodyPr wrap="square" lIns="0" tIns="0" rIns="0" bIns="0" rtlCol="0" anchor="ctr"/>
          <a:lstStyle/>
          <a:p>
            <a:pPr marL="0" indent="0" algn="ctr">
              <a:buNone/>
            </a:pPr>
            <a:r>
              <a:rPr lang="en-US" sz="950" kern="0" dirty="0">
                <a:solidFill>
                  <a:srgbClr val="1F2430"/>
                </a:solidFill>
                <a:latin typeface="Calibri" pitchFamily="34" charset="0"/>
                <a:ea typeface="Calibri" pitchFamily="34" charset="-122"/>
                <a:cs typeface="Calibri" pitchFamily="34" charset="-120"/>
              </a:rPr>
              <a:t>&lt; Sentiment label</a:t>
            </a:r>
            <a:endParaRPr lang="en-US" sz="950" dirty="0"/>
          </a:p>
          <a:p>
            <a:pPr marL="0" indent="0" algn="ctr">
              <a:buNone/>
            </a:pPr>
            <a:r>
              <a:rPr lang="en-US" sz="950" kern="0" dirty="0">
                <a:solidFill>
                  <a:srgbClr val="1F2430"/>
                </a:solidFill>
                <a:latin typeface="Calibri" pitchFamily="34" charset="0"/>
                <a:ea typeface="Calibri" pitchFamily="34" charset="-122"/>
                <a:cs typeface="Calibri" pitchFamily="34" charset="-120"/>
              </a:rPr>
              <a:t>+ dashboard charts &gt;</a:t>
            </a:r>
            <a:endParaRPr lang="en-US" sz="950" dirty="0"/>
          </a:p>
        </p:txBody>
      </p:sp>
      <p:sp>
        <p:nvSpPr>
          <p:cNvPr id="55" name="DiagFlow0"/>
          <p:cNvSpPr txBox="1"/>
          <p:nvPr/>
        </p:nvSpPr>
        <p:spPr>
          <a:xfrm>
            <a:off x="1553640" y="4949040"/>
            <a:ext cx="1500000" cy="400000"/>
          </a:xfrm>
          <a:prstGeom prst="rect">
            <a:avLst/>
          </a:prstGeom>
          <a:noFill/>
          <a:ln/>
        </p:spPr>
        <p:txBody>
          <a:bodyPr wrap="square" lIns="0" tIns="0" rIns="0" bIns="0" rtlCol="0" anchor="ctr"/>
          <a:lstStyle/>
          <a:p>
            <a:pPr marL="0" indent="0" algn="ctr">
              <a:buNone/>
            </a:pPr>
            <a:r>
              <a:rPr lang="en-US" sz="850" kern="0" dirty="0">
                <a:solidFill>
                  <a:srgbClr val="6B7280"/>
                </a:solidFill>
                <a:latin typeface="Calibri" pitchFamily="34" charset="0"/>
                <a:ea typeface="Calibri" pitchFamily="34" charset="-122"/>
                <a:cs typeface="Calibri" pitchFamily="34" charset="-120"/>
              </a:rPr>
              <a:t>raw review text</a:t>
            </a:r>
            <a:endParaRPr lang="en-US" sz="850" dirty="0"/>
          </a:p>
        </p:txBody>
      </p:sp>
      <p:sp>
        <p:nvSpPr>
          <p:cNvPr id="56" name="DiagFlow1"/>
          <p:cNvSpPr txBox="1"/>
          <p:nvPr/>
        </p:nvSpPr>
        <p:spPr>
          <a:xfrm>
            <a:off x="3413640" y="4949040"/>
            <a:ext cx="1500000" cy="400000"/>
          </a:xfrm>
          <a:prstGeom prst="rect">
            <a:avLst/>
          </a:prstGeom>
          <a:noFill/>
          <a:ln/>
        </p:spPr>
        <p:txBody>
          <a:bodyPr wrap="square" lIns="0" tIns="0" rIns="0" bIns="0" rtlCol="0" anchor="ctr"/>
          <a:lstStyle/>
          <a:p>
            <a:pPr marL="0" indent="0" algn="ctr">
              <a:buNone/>
            </a:pPr>
            <a:r>
              <a:rPr lang="en-US" sz="850" kern="0" dirty="0">
                <a:solidFill>
                  <a:srgbClr val="6B7280"/>
                </a:solidFill>
                <a:latin typeface="Calibri" pitchFamily="34" charset="0"/>
                <a:ea typeface="Calibri" pitchFamily="34" charset="-122"/>
                <a:cs typeface="Calibri" pitchFamily="34" charset="-120"/>
              </a:rPr>
              <a:t>TF-IDF feature vectors</a:t>
            </a:r>
            <a:endParaRPr lang="en-US" sz="850" dirty="0"/>
          </a:p>
        </p:txBody>
      </p:sp>
      <p:sp>
        <p:nvSpPr>
          <p:cNvPr id="57" name="DiagFlow2"/>
          <p:cNvSpPr txBox="1"/>
          <p:nvPr/>
        </p:nvSpPr>
        <p:spPr>
          <a:xfrm>
            <a:off x="5273640" y="4949040"/>
            <a:ext cx="1500000" cy="400000"/>
          </a:xfrm>
          <a:prstGeom prst="rect">
            <a:avLst/>
          </a:prstGeom>
          <a:noFill/>
          <a:ln/>
        </p:spPr>
        <p:txBody>
          <a:bodyPr wrap="square" lIns="0" tIns="0" rIns="0" bIns="0" rtlCol="0" anchor="ctr"/>
          <a:lstStyle/>
          <a:p>
            <a:pPr marL="0" indent="0" algn="ctr">
              <a:buNone/>
            </a:pPr>
            <a:r>
              <a:rPr lang="en-US" sz="850" kern="0" dirty="0">
                <a:solidFill>
                  <a:srgbClr val="6B7280"/>
                </a:solidFill>
                <a:latin typeface="Calibri" pitchFamily="34" charset="0"/>
                <a:ea typeface="Calibri" pitchFamily="34" charset="-122"/>
                <a:cs typeface="Calibri" pitchFamily="34" charset="-120"/>
              </a:rPr>
              <a:t>predicted sentiment label</a:t>
            </a:r>
            <a:endParaRPr lang="en-US" sz="850" dirty="0"/>
          </a:p>
        </p:txBody>
      </p:sp>
      <p:sp>
        <p:nvSpPr>
          <p:cNvPr id="21" name="Shape 19"/>
          <p:cNvSpPr/>
          <p:nvPr/>
        </p:nvSpPr>
        <p:spPr>
          <a:xfrm>
            <a:off x="8092440" y="3749040"/>
            <a:ext cx="3520440" cy="2103120"/>
          </a:xfrm>
          <a:prstGeom prst="roundRect">
            <a:avLst>
              <a:gd name="adj" fmla="val 3478"/>
            </a:avLst>
          </a:prstGeom>
          <a:solidFill>
            <a:srgbClr val="FDF6E6"/>
          </a:solidFill>
          <a:ln w="12700">
            <a:solidFill>
              <a:srgbClr val="DDE3EC"/>
            </a:solidFill>
            <a:prstDash val="solid"/>
          </a:ln>
        </p:spPr>
      </p:sp>
      <p:sp>
        <p:nvSpPr>
          <p:cNvPr id="22" name="Text 20"/>
          <p:cNvSpPr txBox="1"/>
          <p:nvPr/>
        </p:nvSpPr>
        <p:spPr>
          <a:xfrm>
            <a:off x="8321040" y="3931920"/>
            <a:ext cx="3063240" cy="274320"/>
          </a:xfrm>
          <a:prstGeom prst="rect">
            <a:avLst/>
          </a:prstGeom>
          <a:noFill/>
          <a:ln/>
        </p:spPr>
        <p:txBody>
          <a:bodyPr wrap="square" lIns="0" tIns="0" rIns="0" bIns="0" rtlCol="0" anchor="ctr"/>
          <a:lstStyle/>
          <a:p>
            <a:pPr marL="0" indent="0">
              <a:buNone/>
            </a:pPr>
            <a:r>
              <a:rPr lang="en-US" sz="1350" b="1" dirty="0">
                <a:solidFill>
                  <a:srgbClr val="A4161A"/>
                </a:solidFill>
                <a:latin typeface="Calibri" pitchFamily="34" charset="0"/>
                <a:ea typeface="Calibri" pitchFamily="34" charset="-122"/>
                <a:cs typeface="Calibri" pitchFamily="34" charset="-120"/>
              </a:rPr>
              <a:t>Label every arrow</a:t>
            </a:r>
            <a:endParaRPr lang="en-US" sz="1350" dirty="0"/>
          </a:p>
        </p:txBody>
      </p:sp>
      <p:sp>
        <p:nvSpPr>
          <p:cNvPr id="23" name="Text 21"/>
          <p:cNvSpPr txBox="1"/>
          <p:nvPr/>
        </p:nvSpPr>
        <p:spPr>
          <a:xfrm>
            <a:off x="8321040" y="4251960"/>
            <a:ext cx="3063240" cy="1371600"/>
          </a:xfrm>
          <a:prstGeom prst="rect">
            <a:avLst/>
          </a:prstGeom>
          <a:noFill/>
          <a:ln/>
        </p:spPr>
        <p:txBody>
          <a:bodyPr wrap="square" lIns="0" tIns="0" rIns="0" bIns="0" rtlCol="0" anchor="ctr"/>
          <a:lstStyle/>
          <a:p>
            <a:pPr marL="0" indent="0">
              <a:buNone/>
            </a:pPr>
            <a:r>
              <a:rPr lang="en-US" sz="1200" dirty="0">
                <a:solidFill>
                  <a:srgbClr val="1F2430"/>
                </a:solidFill>
                <a:latin typeface="Calibri" pitchFamily="34" charset="0"/>
                <a:ea typeface="Calibri" pitchFamily="34" charset="-122"/>
                <a:cs typeface="Calibri" pitchFamily="34" charset="-120"/>
              </a:rPr>
              <a:t>Each arrow should say what flows through it - raw image, cleaned CSV, feature vector, JSON response. Unlabelled arrows invite questions you cannot answer.</a:t>
            </a:r>
            <a:endParaRPr lang="en-US" sz="120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7</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Methodology &amp; Modules</a:t>
            </a:r>
            <a:endParaRPr lang="en-US" sz="3100" dirty="0"/>
          </a:p>
        </p:txBody>
      </p:sp>
      <p:sp>
        <p:nvSpPr>
          <p:cNvPr id="4" name="Shape 2"/>
          <p:cNvSpPr/>
          <p:nvPr/>
        </p:nvSpPr>
        <p:spPr>
          <a:xfrm>
            <a:off x="548640" y="1463040"/>
            <a:ext cx="5349240" cy="1965960"/>
          </a:xfrm>
          <a:prstGeom prst="roundRect">
            <a:avLst>
              <a:gd name="adj" fmla="val 3721"/>
            </a:avLst>
          </a:prstGeom>
          <a:solidFill>
            <a:srgbClr val="F1F4F9"/>
          </a:solidFill>
          <a:ln w="12700">
            <a:solidFill>
              <a:srgbClr val="DDE3EC"/>
            </a:solidFill>
            <a:prstDash val="solid"/>
          </a:ln>
        </p:spPr>
      </p:sp>
      <p:sp>
        <p:nvSpPr>
          <p:cNvPr id="5" name="Shape 3"/>
          <p:cNvSpPr/>
          <p:nvPr/>
        </p:nvSpPr>
        <p:spPr>
          <a:xfrm>
            <a:off x="822960" y="1737360"/>
            <a:ext cx="411480" cy="411480"/>
          </a:xfrm>
          <a:prstGeom prst="ellipse">
            <a:avLst/>
          </a:prstGeom>
          <a:solidFill>
            <a:srgbClr val="1B2A55"/>
          </a:solidFill>
          <a:ln/>
        </p:spPr>
      </p:sp>
      <p:sp>
        <p:nvSpPr>
          <p:cNvPr id="6" name="Text 4"/>
          <p:cNvSpPr txBox="1"/>
          <p:nvPr/>
        </p:nvSpPr>
        <p:spPr>
          <a:xfrm>
            <a:off x="822960" y="173736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17320" y="1755648"/>
            <a:ext cx="4206240" cy="384048"/>
          </a:xfrm>
          <a:prstGeom prst="rect">
            <a:avLst/>
          </a:prstGeom>
          <a:noFill/>
          <a:ln/>
        </p:spPr>
        <p:txBody>
          <a:bodyPr wrap="square" lIns="0" tIns="0" rIns="0" bIns="0" rtlCol="0" anchor="ctr"/>
          <a:lstStyle/>
          <a:p>
            <a:pPr marL="0" indent="0">
              <a:buNone/>
            </a:pPr>
            <a:r>
              <a:rPr lang="en-US" sz="1600" b="1" dirty="0">
                <a:solidFill>
                  <a:srgbClr val="1B2A55"/>
                </a:solidFill>
                <a:latin typeface="Calibri" pitchFamily="34" charset="0"/>
                <a:ea typeface="Calibri" pitchFamily="34" charset="-122"/>
                <a:cs typeface="Calibri" pitchFamily="34" charset="-120"/>
              </a:rPr>
              <a:t>Module 1 - Data</a:t>
            </a:r>
            <a:endParaRPr lang="en-US" sz="1600" dirty="0"/>
          </a:p>
        </p:txBody>
      </p:sp>
      <p:sp>
        <p:nvSpPr>
          <p:cNvPr id="8" name="Text 6"/>
          <p:cNvSpPr txBox="1"/>
          <p:nvPr/>
        </p:nvSpPr>
        <p:spPr>
          <a:xfrm>
            <a:off x="822960" y="2331720"/>
            <a:ext cx="4800600" cy="914400"/>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Public customer review dataset (e.g. Amazon/Flipkart reviews), cleaned and split 80/20 into train and test sets.</a:t>
            </a:r>
            <a:endParaRPr lang="en-US" sz="1300" dirty="0"/>
          </a:p>
        </p:txBody>
      </p:sp>
      <p:sp>
        <p:nvSpPr>
          <p:cNvPr id="9" name="Shape 7"/>
          <p:cNvSpPr/>
          <p:nvPr/>
        </p:nvSpPr>
        <p:spPr>
          <a:xfrm>
            <a:off x="6217920" y="1463040"/>
            <a:ext cx="5349240" cy="1965960"/>
          </a:xfrm>
          <a:prstGeom prst="roundRect">
            <a:avLst>
              <a:gd name="adj" fmla="val 3721"/>
            </a:avLst>
          </a:prstGeom>
          <a:solidFill>
            <a:srgbClr val="F1F4F9"/>
          </a:solidFill>
          <a:ln w="12700">
            <a:solidFill>
              <a:srgbClr val="DDE3EC"/>
            </a:solidFill>
            <a:prstDash val="solid"/>
          </a:ln>
        </p:spPr>
      </p:sp>
      <p:sp>
        <p:nvSpPr>
          <p:cNvPr id="10" name="Shape 8"/>
          <p:cNvSpPr/>
          <p:nvPr/>
        </p:nvSpPr>
        <p:spPr>
          <a:xfrm>
            <a:off x="6492240" y="1737360"/>
            <a:ext cx="411480" cy="411480"/>
          </a:xfrm>
          <a:prstGeom prst="ellipse">
            <a:avLst/>
          </a:prstGeom>
          <a:solidFill>
            <a:srgbClr val="1B2A55"/>
          </a:solidFill>
          <a:ln/>
        </p:spPr>
      </p:sp>
      <p:sp>
        <p:nvSpPr>
          <p:cNvPr id="11" name="Text 9"/>
          <p:cNvSpPr txBox="1"/>
          <p:nvPr/>
        </p:nvSpPr>
        <p:spPr>
          <a:xfrm>
            <a:off x="6492240" y="173736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086600" y="1755648"/>
            <a:ext cx="4206240" cy="384048"/>
          </a:xfrm>
          <a:prstGeom prst="rect">
            <a:avLst/>
          </a:prstGeom>
          <a:noFill/>
          <a:ln/>
        </p:spPr>
        <p:txBody>
          <a:bodyPr wrap="square" lIns="0" tIns="0" rIns="0" bIns="0" rtlCol="0" anchor="ctr"/>
          <a:lstStyle/>
          <a:p>
            <a:pPr marL="0" indent="0">
              <a:buNone/>
            </a:pPr>
            <a:r>
              <a:rPr lang="en-US" sz="1600" b="1" dirty="0">
                <a:solidFill>
                  <a:srgbClr val="1B2A55"/>
                </a:solidFill>
                <a:latin typeface="Calibri" pitchFamily="34" charset="0"/>
                <a:ea typeface="Calibri" pitchFamily="34" charset="-122"/>
                <a:cs typeface="Calibri" pitchFamily="34" charset="-120"/>
              </a:rPr>
              <a:t>Module 2 - Processing</a:t>
            </a:r>
            <a:endParaRPr lang="en-US" sz="1600" dirty="0"/>
          </a:p>
        </p:txBody>
      </p:sp>
      <p:sp>
        <p:nvSpPr>
          <p:cNvPr id="13" name="Text 11"/>
          <p:cNvSpPr txBox="1"/>
          <p:nvPr/>
        </p:nvSpPr>
        <p:spPr>
          <a:xfrm>
            <a:off x="6492240" y="2331720"/>
            <a:ext cx="4800600" cy="914400"/>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Lowercasing, punctuation &amp; stopword removal, tokenisation, and TF-IDF vectorisation of review text.</a:t>
            </a:r>
            <a:endParaRPr lang="en-US" sz="1300" dirty="0"/>
          </a:p>
        </p:txBody>
      </p:sp>
      <p:sp>
        <p:nvSpPr>
          <p:cNvPr id="14" name="Shape 12"/>
          <p:cNvSpPr/>
          <p:nvPr/>
        </p:nvSpPr>
        <p:spPr>
          <a:xfrm>
            <a:off x="548640" y="3703320"/>
            <a:ext cx="5349240" cy="1965960"/>
          </a:xfrm>
          <a:prstGeom prst="roundRect">
            <a:avLst>
              <a:gd name="adj" fmla="val 3721"/>
            </a:avLst>
          </a:prstGeom>
          <a:solidFill>
            <a:srgbClr val="F1F4F9"/>
          </a:solidFill>
          <a:ln w="12700">
            <a:solidFill>
              <a:srgbClr val="DDE3EC"/>
            </a:solidFill>
            <a:prstDash val="solid"/>
          </a:ln>
        </p:spPr>
      </p:sp>
      <p:sp>
        <p:nvSpPr>
          <p:cNvPr id="15" name="Shape 13"/>
          <p:cNvSpPr/>
          <p:nvPr/>
        </p:nvSpPr>
        <p:spPr>
          <a:xfrm>
            <a:off x="822960" y="3977640"/>
            <a:ext cx="411480" cy="411480"/>
          </a:xfrm>
          <a:prstGeom prst="ellipse">
            <a:avLst/>
          </a:prstGeom>
          <a:solidFill>
            <a:srgbClr val="1B2A55"/>
          </a:solidFill>
          <a:ln/>
        </p:spPr>
      </p:sp>
      <p:sp>
        <p:nvSpPr>
          <p:cNvPr id="16" name="Text 14"/>
          <p:cNvSpPr txBox="1"/>
          <p:nvPr/>
        </p:nvSpPr>
        <p:spPr>
          <a:xfrm>
            <a:off x="822960" y="397764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17320" y="3995928"/>
            <a:ext cx="4206240" cy="384048"/>
          </a:xfrm>
          <a:prstGeom prst="rect">
            <a:avLst/>
          </a:prstGeom>
          <a:noFill/>
          <a:ln/>
        </p:spPr>
        <p:txBody>
          <a:bodyPr wrap="square" lIns="0" tIns="0" rIns="0" bIns="0" rtlCol="0" anchor="ctr"/>
          <a:lstStyle/>
          <a:p>
            <a:pPr marL="0" indent="0">
              <a:buNone/>
            </a:pPr>
            <a:r>
              <a:rPr lang="en-US" sz="1600" b="1" dirty="0">
                <a:solidFill>
                  <a:srgbClr val="1B2A55"/>
                </a:solidFill>
                <a:latin typeface="Calibri" pitchFamily="34" charset="0"/>
                <a:ea typeface="Calibri" pitchFamily="34" charset="-122"/>
                <a:cs typeface="Calibri" pitchFamily="34" charset="-120"/>
              </a:rPr>
              <a:t>Module 3 - Core Logic</a:t>
            </a:r>
            <a:endParaRPr lang="en-US" sz="1600" dirty="0"/>
          </a:p>
        </p:txBody>
      </p:sp>
      <p:sp>
        <p:nvSpPr>
          <p:cNvPr id="18" name="Text 16"/>
          <p:cNvSpPr txBox="1"/>
          <p:nvPr/>
        </p:nvSpPr>
        <p:spPr>
          <a:xfrm>
            <a:off x="822960" y="4572000"/>
            <a:ext cx="4800600" cy="914400"/>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Naive Bayes, SVM, and Logistic Regression trained and compared; best model chosen by F1-score.</a:t>
            </a:r>
            <a:endParaRPr lang="en-US" sz="1300" dirty="0"/>
          </a:p>
        </p:txBody>
      </p:sp>
      <p:sp>
        <p:nvSpPr>
          <p:cNvPr id="19" name="Shape 17"/>
          <p:cNvSpPr/>
          <p:nvPr/>
        </p:nvSpPr>
        <p:spPr>
          <a:xfrm>
            <a:off x="6217920" y="3703320"/>
            <a:ext cx="5349240" cy="1965960"/>
          </a:xfrm>
          <a:prstGeom prst="roundRect">
            <a:avLst>
              <a:gd name="adj" fmla="val 3721"/>
            </a:avLst>
          </a:prstGeom>
          <a:solidFill>
            <a:srgbClr val="F1F4F9"/>
          </a:solidFill>
          <a:ln w="12700">
            <a:solidFill>
              <a:srgbClr val="DDE3EC"/>
            </a:solidFill>
            <a:prstDash val="solid"/>
          </a:ln>
        </p:spPr>
      </p:sp>
      <p:sp>
        <p:nvSpPr>
          <p:cNvPr id="20" name="Shape 18"/>
          <p:cNvSpPr/>
          <p:nvPr/>
        </p:nvSpPr>
        <p:spPr>
          <a:xfrm>
            <a:off x="6492240" y="3977640"/>
            <a:ext cx="411480" cy="411480"/>
          </a:xfrm>
          <a:prstGeom prst="ellipse">
            <a:avLst/>
          </a:prstGeom>
          <a:solidFill>
            <a:srgbClr val="1B2A55"/>
          </a:solidFill>
          <a:ln/>
        </p:spPr>
      </p:sp>
      <p:sp>
        <p:nvSpPr>
          <p:cNvPr id="21" name="Text 19"/>
          <p:cNvSpPr txBox="1"/>
          <p:nvPr/>
        </p:nvSpPr>
        <p:spPr>
          <a:xfrm>
            <a:off x="6492240" y="397764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086600" y="3995928"/>
            <a:ext cx="4206240" cy="384048"/>
          </a:xfrm>
          <a:prstGeom prst="rect">
            <a:avLst/>
          </a:prstGeom>
          <a:noFill/>
          <a:ln/>
        </p:spPr>
        <p:txBody>
          <a:bodyPr wrap="square" lIns="0" tIns="0" rIns="0" bIns="0" rtlCol="0" anchor="ctr"/>
          <a:lstStyle/>
          <a:p>
            <a:pPr marL="0" indent="0">
              <a:buNone/>
            </a:pPr>
            <a:r>
              <a:rPr lang="en-US" sz="1600" b="1" dirty="0">
                <a:solidFill>
                  <a:srgbClr val="1B2A55"/>
                </a:solidFill>
                <a:latin typeface="Calibri" pitchFamily="34" charset="0"/>
                <a:ea typeface="Calibri" pitchFamily="34" charset="-122"/>
                <a:cs typeface="Calibri" pitchFamily="34" charset="-120"/>
              </a:rPr>
              <a:t>Module 4 - Interface</a:t>
            </a:r>
            <a:endParaRPr lang="en-US" sz="1600" dirty="0"/>
          </a:p>
        </p:txBody>
      </p:sp>
      <p:sp>
        <p:nvSpPr>
          <p:cNvPr id="23" name="Text 21"/>
          <p:cNvSpPr txBox="1"/>
          <p:nvPr/>
        </p:nvSpPr>
        <p:spPr>
          <a:xfrm>
            <a:off x="6492240" y="4572000"/>
            <a:ext cx="4800600" cy="914400"/>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A lightweight Streamlit dashboard where a user pastes a review and instantly sees its predicted sentiment.</a:t>
            </a:r>
            <a:endParaRPr lang="en-US" sz="130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8</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Tools and Technologies</a:t>
            </a:r>
            <a:endParaRPr lang="en-US" sz="3100" dirty="0"/>
          </a:p>
        </p:txBody>
      </p:sp>
      <p:sp>
        <p:nvSpPr>
          <p:cNvPr id="4" name="Shape 2"/>
          <p:cNvSpPr/>
          <p:nvPr/>
        </p:nvSpPr>
        <p:spPr>
          <a:xfrm>
            <a:off x="548640" y="1463040"/>
            <a:ext cx="5349240" cy="4114800"/>
          </a:xfrm>
          <a:prstGeom prst="roundRect">
            <a:avLst>
              <a:gd name="adj" fmla="val 1778"/>
            </a:avLst>
          </a:prstGeom>
          <a:solidFill>
            <a:srgbClr val="F1F4F9"/>
          </a:solidFill>
          <a:ln w="12700">
            <a:solidFill>
              <a:srgbClr val="DDE3EC"/>
            </a:solidFill>
            <a:prstDash val="solid"/>
          </a:ln>
        </p:spPr>
      </p:sp>
      <p:sp>
        <p:nvSpPr>
          <p:cNvPr id="5" name="Text 3"/>
          <p:cNvSpPr txBox="1"/>
          <p:nvPr/>
        </p:nvSpPr>
        <p:spPr>
          <a:xfrm>
            <a:off x="868680" y="1691640"/>
            <a:ext cx="4709160" cy="320040"/>
          </a:xfrm>
          <a:prstGeom prst="rect">
            <a:avLst/>
          </a:prstGeom>
          <a:noFill/>
          <a:ln/>
        </p:spPr>
        <p:txBody>
          <a:bodyPr wrap="square" lIns="0" tIns="0" rIns="0" bIns="0" rtlCol="0" anchor="ctr"/>
          <a:lstStyle/>
          <a:p>
            <a:pPr marL="0" indent="0">
              <a:buNone/>
            </a:pPr>
            <a:r>
              <a:rPr lang="en-US" sz="1200" b="1" kern="0" spc="180" dirty="0">
                <a:solidFill>
                  <a:srgbClr val="C8A02C"/>
                </a:solidFill>
                <a:latin typeface="Calibri" pitchFamily="34" charset="0"/>
                <a:ea typeface="Calibri" pitchFamily="34" charset="-122"/>
                <a:cs typeface="Calibri" pitchFamily="34" charset="-120"/>
              </a:rPr>
              <a:t>SOFTWARE</a:t>
            </a:r>
            <a:endParaRPr lang="en-US" sz="1200" dirty="0"/>
          </a:p>
        </p:txBody>
      </p:sp>
      <p:sp>
        <p:nvSpPr>
          <p:cNvPr id="6" name="Text 4"/>
          <p:cNvSpPr txBox="1"/>
          <p:nvPr/>
        </p:nvSpPr>
        <p:spPr>
          <a:xfrm>
            <a:off x="868680" y="2103120"/>
            <a:ext cx="4709160" cy="320040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Language: Python 3.11</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Libraries: scikit-learn, NLTK, pandas, matplotlib</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Front end: Streamlit</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Back end: Not required (Streamlit handles both)</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Database: Not required (CSV dataset)</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IDE: Jupyter Notebook / Google Colab</a:t>
            </a:r>
            <a:endParaRPr lang="en-US" sz="1350" dirty="0"/>
          </a:p>
        </p:txBody>
      </p:sp>
      <p:sp>
        <p:nvSpPr>
          <p:cNvPr id="7" name="Shape 5"/>
          <p:cNvSpPr/>
          <p:nvPr/>
        </p:nvSpPr>
        <p:spPr>
          <a:xfrm>
            <a:off x="6217920" y="1463040"/>
            <a:ext cx="5349240" cy="4114800"/>
          </a:xfrm>
          <a:prstGeom prst="roundRect">
            <a:avLst>
              <a:gd name="adj" fmla="val 1778"/>
            </a:avLst>
          </a:prstGeom>
          <a:solidFill>
            <a:srgbClr val="F1F4F9"/>
          </a:solidFill>
          <a:ln w="12700">
            <a:solidFill>
              <a:srgbClr val="DDE3EC"/>
            </a:solidFill>
            <a:prstDash val="solid"/>
          </a:ln>
        </p:spPr>
      </p:sp>
      <p:sp>
        <p:nvSpPr>
          <p:cNvPr id="8" name="Text 6"/>
          <p:cNvSpPr txBox="1"/>
          <p:nvPr/>
        </p:nvSpPr>
        <p:spPr>
          <a:xfrm>
            <a:off x="6537960" y="1691640"/>
            <a:ext cx="4709160" cy="320040"/>
          </a:xfrm>
          <a:prstGeom prst="rect">
            <a:avLst/>
          </a:prstGeom>
          <a:noFill/>
          <a:ln/>
        </p:spPr>
        <p:txBody>
          <a:bodyPr wrap="square" lIns="0" tIns="0" rIns="0" bIns="0" rtlCol="0" anchor="ctr"/>
          <a:lstStyle/>
          <a:p>
            <a:pPr marL="0" indent="0">
              <a:buNone/>
            </a:pPr>
            <a:r>
              <a:rPr lang="en-US" sz="1200" b="1" kern="0" spc="180" dirty="0">
                <a:solidFill>
                  <a:srgbClr val="C8A02C"/>
                </a:solidFill>
                <a:latin typeface="Calibri" pitchFamily="34" charset="0"/>
                <a:ea typeface="Calibri" pitchFamily="34" charset="-122"/>
                <a:cs typeface="Calibri" pitchFamily="34" charset="-120"/>
              </a:rPr>
              <a:t>HARDWARE / PLATFORM</a:t>
            </a:r>
            <a:endParaRPr lang="en-US" sz="1200" dirty="0"/>
          </a:p>
        </p:txBody>
      </p:sp>
      <p:sp>
        <p:nvSpPr>
          <p:cNvPr id="9" name="Text 7"/>
          <p:cNvSpPr txBox="1"/>
          <p:nvPr/>
        </p:nvSpPr>
        <p:spPr>
          <a:xfrm>
            <a:off x="6537960" y="2103120"/>
            <a:ext cx="4709160" cy="320040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Processor: i5 or above</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RAM: 8 GB minimum</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GPU / Cloud: Not required (Colab CPU is enough)</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Sensors or devices: None</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Deployment: localhost / Streamlit Community Cloud</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Version control: GitHub repository</a:t>
            </a:r>
            <a:endParaRPr lang="en-US" sz="1350" dirty="0"/>
          </a:p>
        </p:txBody>
      </p:sp>
      <p:sp>
        <p:nvSpPr>
          <p:cNvPr id="10" name="Text 8"/>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1" name="Text 9"/>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9</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Work Completed / Demo</a:t>
            </a:r>
            <a:endParaRPr lang="en-US" sz="3100" dirty="0"/>
          </a:p>
        </p:txBody>
      </p:sp>
      <p:sp>
        <p:nvSpPr>
          <p:cNvPr id="4" name="Shape 2"/>
          <p:cNvSpPr/>
          <p:nvPr/>
        </p:nvSpPr>
        <p:spPr>
          <a:xfrm>
            <a:off x="548640" y="1463040"/>
            <a:ext cx="5852160" cy="566928"/>
          </a:xfrm>
          <a:prstGeom prst="roundRect">
            <a:avLst>
              <a:gd name="adj" fmla="val 12903"/>
            </a:avLst>
          </a:prstGeom>
          <a:solidFill>
            <a:srgbClr val="F1F4F9"/>
          </a:solidFill>
          <a:ln w="12700">
            <a:solidFill>
              <a:srgbClr val="DDE3EC"/>
            </a:solidFill>
            <a:prstDash val="solid"/>
          </a:ln>
        </p:spPr>
      </p:sp>
      <p:sp>
        <p:nvSpPr>
          <p:cNvPr id="5" name="Shape 3"/>
          <p:cNvSpPr/>
          <p:nvPr/>
        </p:nvSpPr>
        <p:spPr>
          <a:xfrm>
            <a:off x="777240" y="1655064"/>
            <a:ext cx="182880" cy="182880"/>
          </a:xfrm>
          <a:prstGeom prst="ellipse">
            <a:avLst/>
          </a:prstGeom>
          <a:solidFill>
            <a:srgbClr val="1E7A46"/>
          </a:solidFill>
          <a:ln/>
        </p:spPr>
      </p:sp>
      <p:sp>
        <p:nvSpPr>
          <p:cNvPr id="6" name="Text 4"/>
          <p:cNvSpPr txBox="1"/>
          <p:nvPr/>
        </p:nvSpPr>
        <p:spPr>
          <a:xfrm>
            <a:off x="1097280" y="1463040"/>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Literature survey</a:t>
            </a:r>
            <a:endParaRPr lang="en-US" sz="1350" dirty="0"/>
          </a:p>
        </p:txBody>
      </p:sp>
      <p:sp>
        <p:nvSpPr>
          <p:cNvPr id="7" name="Text 5"/>
          <p:cNvSpPr txBox="1"/>
          <p:nvPr/>
        </p:nvSpPr>
        <p:spPr>
          <a:xfrm>
            <a:off x="4480560" y="1463040"/>
            <a:ext cx="1691640" cy="566928"/>
          </a:xfrm>
          <a:prstGeom prst="rect">
            <a:avLst/>
          </a:prstGeom>
          <a:noFill/>
          <a:ln/>
        </p:spPr>
        <p:txBody>
          <a:bodyPr wrap="square" lIns="0" tIns="0" rIns="0" bIns="0" rtlCol="0" anchor="ctr"/>
          <a:lstStyle/>
          <a:p>
            <a:pPr marL="0" indent="0" algn="r">
              <a:buNone/>
            </a:pPr>
            <a:r>
              <a:rPr lang="en-US" sz="1200" b="1" dirty="0">
                <a:solidFill>
                  <a:srgbClr val="1E7A46"/>
                </a:solidFill>
                <a:latin typeface="Calibri" pitchFamily="34" charset="0"/>
                <a:ea typeface="Calibri" pitchFamily="34" charset="-122"/>
                <a:cs typeface="Calibri" pitchFamily="34" charset="-120"/>
              </a:rPr>
              <a:t>Completed</a:t>
            </a:r>
            <a:endParaRPr lang="en-US" sz="1200" dirty="0"/>
          </a:p>
        </p:txBody>
      </p:sp>
      <p:sp>
        <p:nvSpPr>
          <p:cNvPr id="8" name="Shape 6"/>
          <p:cNvSpPr/>
          <p:nvPr/>
        </p:nvSpPr>
        <p:spPr>
          <a:xfrm>
            <a:off x="548640" y="2176272"/>
            <a:ext cx="5852160" cy="566928"/>
          </a:xfrm>
          <a:prstGeom prst="roundRect">
            <a:avLst>
              <a:gd name="adj" fmla="val 12903"/>
            </a:avLst>
          </a:prstGeom>
          <a:solidFill>
            <a:srgbClr val="F1F4F9"/>
          </a:solidFill>
          <a:ln w="12700">
            <a:solidFill>
              <a:srgbClr val="DDE3EC"/>
            </a:solidFill>
            <a:prstDash val="solid"/>
          </a:ln>
        </p:spPr>
      </p:sp>
      <p:sp>
        <p:nvSpPr>
          <p:cNvPr id="9" name="Shape 7"/>
          <p:cNvSpPr/>
          <p:nvPr/>
        </p:nvSpPr>
        <p:spPr>
          <a:xfrm>
            <a:off x="777240" y="2368296"/>
            <a:ext cx="182880" cy="182880"/>
          </a:xfrm>
          <a:prstGeom prst="ellipse">
            <a:avLst/>
          </a:prstGeom>
          <a:solidFill>
            <a:srgbClr val="1E7A46"/>
          </a:solidFill>
          <a:ln/>
        </p:spPr>
      </p:sp>
      <p:sp>
        <p:nvSpPr>
          <p:cNvPr id="10" name="Text 8"/>
          <p:cNvSpPr txBox="1"/>
          <p:nvPr/>
        </p:nvSpPr>
        <p:spPr>
          <a:xfrm>
            <a:off x="1097280" y="2176272"/>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Dataset collection</a:t>
            </a:r>
            <a:endParaRPr lang="en-US" sz="1350" dirty="0"/>
          </a:p>
        </p:txBody>
      </p:sp>
      <p:sp>
        <p:nvSpPr>
          <p:cNvPr id="11" name="Text 9"/>
          <p:cNvSpPr txBox="1"/>
          <p:nvPr/>
        </p:nvSpPr>
        <p:spPr>
          <a:xfrm>
            <a:off x="4480560" y="2176272"/>
            <a:ext cx="1691640" cy="566928"/>
          </a:xfrm>
          <a:prstGeom prst="rect">
            <a:avLst/>
          </a:prstGeom>
          <a:noFill/>
          <a:ln/>
        </p:spPr>
        <p:txBody>
          <a:bodyPr wrap="square" lIns="0" tIns="0" rIns="0" bIns="0" rtlCol="0" anchor="ctr"/>
          <a:lstStyle/>
          <a:p>
            <a:pPr marL="0" indent="0" algn="r">
              <a:buNone/>
            </a:pPr>
            <a:r>
              <a:rPr lang="en-US" sz="1200" b="1" dirty="0">
                <a:solidFill>
                  <a:srgbClr val="1E7A46"/>
                </a:solidFill>
                <a:latin typeface="Calibri" pitchFamily="34" charset="0"/>
                <a:ea typeface="Calibri" pitchFamily="34" charset="-122"/>
                <a:cs typeface="Calibri" pitchFamily="34" charset="-120"/>
              </a:rPr>
              <a:t>Completed</a:t>
            </a:r>
            <a:endParaRPr lang="en-US" sz="1200" dirty="0"/>
          </a:p>
        </p:txBody>
      </p:sp>
      <p:sp>
        <p:nvSpPr>
          <p:cNvPr id="12" name="Shape 10"/>
          <p:cNvSpPr/>
          <p:nvPr/>
        </p:nvSpPr>
        <p:spPr>
          <a:xfrm>
            <a:off x="548640" y="2889504"/>
            <a:ext cx="5852160" cy="566928"/>
          </a:xfrm>
          <a:prstGeom prst="roundRect">
            <a:avLst>
              <a:gd name="adj" fmla="val 12903"/>
            </a:avLst>
          </a:prstGeom>
          <a:solidFill>
            <a:srgbClr val="F1F4F9"/>
          </a:solidFill>
          <a:ln w="12700">
            <a:solidFill>
              <a:srgbClr val="DDE3EC"/>
            </a:solidFill>
            <a:prstDash val="solid"/>
          </a:ln>
        </p:spPr>
      </p:sp>
      <p:sp>
        <p:nvSpPr>
          <p:cNvPr id="13" name="Shape 11"/>
          <p:cNvSpPr/>
          <p:nvPr/>
        </p:nvSpPr>
        <p:spPr>
          <a:xfrm>
            <a:off x="777240" y="3081528"/>
            <a:ext cx="182880" cy="182880"/>
          </a:xfrm>
          <a:prstGeom prst="ellipse">
            <a:avLst/>
          </a:prstGeom>
          <a:solidFill>
            <a:srgbClr val="C8A02C"/>
          </a:solidFill>
          <a:ln/>
        </p:spPr>
      </p:sp>
      <p:sp>
        <p:nvSpPr>
          <p:cNvPr id="14" name="Text 12"/>
          <p:cNvSpPr txBox="1"/>
          <p:nvPr/>
        </p:nvSpPr>
        <p:spPr>
          <a:xfrm>
            <a:off x="1097280" y="2889504"/>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Pre-processing pipeline</a:t>
            </a:r>
            <a:endParaRPr lang="en-US" sz="1350" dirty="0"/>
          </a:p>
        </p:txBody>
      </p:sp>
      <p:sp>
        <p:nvSpPr>
          <p:cNvPr id="15" name="Text 13"/>
          <p:cNvSpPr txBox="1"/>
          <p:nvPr/>
        </p:nvSpPr>
        <p:spPr>
          <a:xfrm>
            <a:off x="4480560" y="2889504"/>
            <a:ext cx="1691640" cy="566928"/>
          </a:xfrm>
          <a:prstGeom prst="rect">
            <a:avLst/>
          </a:prstGeom>
          <a:noFill/>
          <a:ln/>
        </p:spPr>
        <p:txBody>
          <a:bodyPr wrap="square" lIns="0" tIns="0" rIns="0" bIns="0" rtlCol="0" anchor="ctr"/>
          <a:lstStyle/>
          <a:p>
            <a:pPr marL="0" indent="0" algn="r">
              <a:buNone/>
            </a:pPr>
            <a:r>
              <a:rPr lang="en-US" sz="1200" b="1" dirty="0">
                <a:solidFill>
                  <a:srgbClr val="C8A02C"/>
                </a:solidFill>
                <a:latin typeface="Calibri" pitchFamily="34" charset="0"/>
                <a:ea typeface="Calibri" pitchFamily="34" charset="-122"/>
                <a:cs typeface="Calibri" pitchFamily="34" charset="-120"/>
              </a:rPr>
              <a:t>In progress</a:t>
            </a:r>
            <a:endParaRPr lang="en-US" sz="1200" dirty="0"/>
          </a:p>
        </p:txBody>
      </p:sp>
      <p:sp>
        <p:nvSpPr>
          <p:cNvPr id="16" name="Shape 14"/>
          <p:cNvSpPr/>
          <p:nvPr/>
        </p:nvSpPr>
        <p:spPr>
          <a:xfrm>
            <a:off x="548640" y="3602736"/>
            <a:ext cx="5852160" cy="566928"/>
          </a:xfrm>
          <a:prstGeom prst="roundRect">
            <a:avLst>
              <a:gd name="adj" fmla="val 12903"/>
            </a:avLst>
          </a:prstGeom>
          <a:solidFill>
            <a:srgbClr val="F1F4F9"/>
          </a:solidFill>
          <a:ln w="12700">
            <a:solidFill>
              <a:srgbClr val="DDE3EC"/>
            </a:solidFill>
            <a:prstDash val="solid"/>
          </a:ln>
        </p:spPr>
      </p:sp>
      <p:sp>
        <p:nvSpPr>
          <p:cNvPr id="17" name="Shape 15"/>
          <p:cNvSpPr/>
          <p:nvPr/>
        </p:nvSpPr>
        <p:spPr>
          <a:xfrm>
            <a:off x="777240" y="3794760"/>
            <a:ext cx="182880" cy="182880"/>
          </a:xfrm>
          <a:prstGeom prst="ellipse">
            <a:avLst/>
          </a:prstGeom>
          <a:solidFill>
            <a:srgbClr val="C8A02C"/>
          </a:solidFill>
          <a:ln/>
        </p:spPr>
      </p:sp>
      <p:sp>
        <p:nvSpPr>
          <p:cNvPr id="18" name="Text 16"/>
          <p:cNvSpPr txBox="1"/>
          <p:nvPr/>
        </p:nvSpPr>
        <p:spPr>
          <a:xfrm>
            <a:off x="1097280" y="3602736"/>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Model training</a:t>
            </a:r>
            <a:endParaRPr lang="en-US" sz="1350" dirty="0"/>
          </a:p>
        </p:txBody>
      </p:sp>
      <p:sp>
        <p:nvSpPr>
          <p:cNvPr id="19" name="Text 17"/>
          <p:cNvSpPr txBox="1"/>
          <p:nvPr/>
        </p:nvSpPr>
        <p:spPr>
          <a:xfrm>
            <a:off x="4480560" y="3602736"/>
            <a:ext cx="1691640" cy="566928"/>
          </a:xfrm>
          <a:prstGeom prst="rect">
            <a:avLst/>
          </a:prstGeom>
          <a:noFill/>
          <a:ln/>
        </p:spPr>
        <p:txBody>
          <a:bodyPr wrap="square" lIns="0" tIns="0" rIns="0" bIns="0" rtlCol="0" anchor="ctr"/>
          <a:lstStyle/>
          <a:p>
            <a:pPr marL="0" indent="0" algn="r">
              <a:buNone/>
            </a:pPr>
            <a:r>
              <a:rPr lang="en-US" sz="1200" b="1" dirty="0">
                <a:solidFill>
                  <a:srgbClr val="C8A02C"/>
                </a:solidFill>
                <a:latin typeface="Calibri" pitchFamily="34" charset="0"/>
                <a:ea typeface="Calibri" pitchFamily="34" charset="-122"/>
                <a:cs typeface="Calibri" pitchFamily="34" charset="-120"/>
              </a:rPr>
              <a:t>In progress</a:t>
            </a:r>
            <a:endParaRPr lang="en-US" sz="1200" dirty="0"/>
          </a:p>
        </p:txBody>
      </p:sp>
      <p:sp>
        <p:nvSpPr>
          <p:cNvPr id="20" name="Shape 18"/>
          <p:cNvSpPr/>
          <p:nvPr/>
        </p:nvSpPr>
        <p:spPr>
          <a:xfrm>
            <a:off x="548640" y="4315968"/>
            <a:ext cx="5852160" cy="566928"/>
          </a:xfrm>
          <a:prstGeom prst="roundRect">
            <a:avLst>
              <a:gd name="adj" fmla="val 12903"/>
            </a:avLst>
          </a:prstGeom>
          <a:solidFill>
            <a:srgbClr val="F1F4F9"/>
          </a:solidFill>
          <a:ln w="12700">
            <a:solidFill>
              <a:srgbClr val="DDE3EC"/>
            </a:solidFill>
            <a:prstDash val="solid"/>
          </a:ln>
        </p:spPr>
      </p:sp>
      <p:sp>
        <p:nvSpPr>
          <p:cNvPr id="21" name="Shape 19"/>
          <p:cNvSpPr/>
          <p:nvPr/>
        </p:nvSpPr>
        <p:spPr>
          <a:xfrm>
            <a:off x="777240" y="4507992"/>
            <a:ext cx="182880" cy="182880"/>
          </a:xfrm>
          <a:prstGeom prst="ellipse">
            <a:avLst/>
          </a:prstGeom>
          <a:solidFill>
            <a:srgbClr val="6B7280"/>
          </a:solidFill>
          <a:ln/>
        </p:spPr>
      </p:sp>
      <p:sp>
        <p:nvSpPr>
          <p:cNvPr id="22" name="Text 20"/>
          <p:cNvSpPr txBox="1"/>
          <p:nvPr/>
        </p:nvSpPr>
        <p:spPr>
          <a:xfrm>
            <a:off x="1097280" y="4315968"/>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User interface</a:t>
            </a:r>
            <a:endParaRPr lang="en-US" sz="1350" dirty="0"/>
          </a:p>
        </p:txBody>
      </p:sp>
      <p:sp>
        <p:nvSpPr>
          <p:cNvPr id="23" name="Text 21"/>
          <p:cNvSpPr txBox="1"/>
          <p:nvPr/>
        </p:nvSpPr>
        <p:spPr>
          <a:xfrm>
            <a:off x="4480560" y="4315968"/>
            <a:ext cx="1691640" cy="566928"/>
          </a:xfrm>
          <a:prstGeom prst="rect">
            <a:avLst/>
          </a:prstGeom>
          <a:noFill/>
          <a:ln/>
        </p:spPr>
        <p:txBody>
          <a:bodyPr wrap="square" lIns="0" tIns="0" rIns="0" bIns="0" rtlCol="0" anchor="ctr"/>
          <a:lstStyle/>
          <a:p>
            <a:pPr marL="0" indent="0" algn="r">
              <a:buNone/>
            </a:pPr>
            <a:r>
              <a:rPr lang="en-US" sz="1200" b="1" dirty="0">
                <a:solidFill>
                  <a:srgbClr val="6B7280"/>
                </a:solidFill>
                <a:latin typeface="Calibri" pitchFamily="34" charset="0"/>
                <a:ea typeface="Calibri" pitchFamily="34" charset="-122"/>
                <a:cs typeface="Calibri" pitchFamily="34" charset="-120"/>
              </a:rPr>
              <a:t>Pending</a:t>
            </a:r>
            <a:endParaRPr lang="en-US" sz="1200" dirty="0"/>
          </a:p>
        </p:txBody>
      </p:sp>
      <p:sp>
        <p:nvSpPr>
          <p:cNvPr id="24" name="Shape 22"/>
          <p:cNvSpPr/>
          <p:nvPr/>
        </p:nvSpPr>
        <p:spPr>
          <a:xfrm>
            <a:off x="548640" y="5029200"/>
            <a:ext cx="5852160" cy="566928"/>
          </a:xfrm>
          <a:prstGeom prst="roundRect">
            <a:avLst>
              <a:gd name="adj" fmla="val 12903"/>
            </a:avLst>
          </a:prstGeom>
          <a:solidFill>
            <a:srgbClr val="F1F4F9"/>
          </a:solidFill>
          <a:ln w="12700">
            <a:solidFill>
              <a:srgbClr val="DDE3EC"/>
            </a:solidFill>
            <a:prstDash val="solid"/>
          </a:ln>
        </p:spPr>
      </p:sp>
      <p:sp>
        <p:nvSpPr>
          <p:cNvPr id="25" name="Shape 23"/>
          <p:cNvSpPr/>
          <p:nvPr/>
        </p:nvSpPr>
        <p:spPr>
          <a:xfrm>
            <a:off x="777240" y="5221224"/>
            <a:ext cx="182880" cy="182880"/>
          </a:xfrm>
          <a:prstGeom prst="ellipse">
            <a:avLst/>
          </a:prstGeom>
          <a:solidFill>
            <a:srgbClr val="6B7280"/>
          </a:solidFill>
          <a:ln/>
        </p:spPr>
      </p:sp>
      <p:sp>
        <p:nvSpPr>
          <p:cNvPr id="26" name="Text 24"/>
          <p:cNvSpPr txBox="1"/>
          <p:nvPr/>
        </p:nvSpPr>
        <p:spPr>
          <a:xfrm>
            <a:off x="1097280" y="5029200"/>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Testing &amp; evaluation</a:t>
            </a:r>
            <a:endParaRPr lang="en-US" sz="1350" dirty="0"/>
          </a:p>
        </p:txBody>
      </p:sp>
      <p:sp>
        <p:nvSpPr>
          <p:cNvPr id="27" name="Text 25"/>
          <p:cNvSpPr txBox="1"/>
          <p:nvPr/>
        </p:nvSpPr>
        <p:spPr>
          <a:xfrm>
            <a:off x="4480560" y="5029200"/>
            <a:ext cx="1691640" cy="566928"/>
          </a:xfrm>
          <a:prstGeom prst="rect">
            <a:avLst/>
          </a:prstGeom>
          <a:noFill/>
          <a:ln/>
        </p:spPr>
        <p:txBody>
          <a:bodyPr wrap="square" lIns="0" tIns="0" rIns="0" bIns="0" rtlCol="0" anchor="ctr"/>
          <a:lstStyle/>
          <a:p>
            <a:pPr marL="0" indent="0" algn="r">
              <a:buNone/>
            </a:pPr>
            <a:r>
              <a:rPr lang="en-US" sz="1200" b="1" dirty="0">
                <a:solidFill>
                  <a:srgbClr val="6B7280"/>
                </a:solidFill>
                <a:latin typeface="Calibri" pitchFamily="34" charset="0"/>
                <a:ea typeface="Calibri" pitchFamily="34" charset="-122"/>
                <a:cs typeface="Calibri" pitchFamily="34" charset="-120"/>
              </a:rPr>
              <a:t>Pending</a:t>
            </a:r>
            <a:endParaRPr lang="en-US" sz="1200" dirty="0"/>
          </a:p>
        </p:txBody>
      </p:sp>
      <p:sp>
        <p:nvSpPr>
          <p:cNvPr id="30" name="Shape 28"/>
          <p:cNvSpPr/>
          <p:nvPr/>
        </p:nvSpPr>
        <p:spPr>
          <a:xfrm>
            <a:off x="6675120" y="4892040"/>
            <a:ext cx="4937760" cy="1005840"/>
          </a:xfrm>
          <a:prstGeom prst="roundRect">
            <a:avLst>
              <a:gd name="adj" fmla="val 7273"/>
            </a:avLst>
          </a:prstGeom>
          <a:solidFill>
            <a:srgbClr val="FDF6E6"/>
          </a:solidFill>
          <a:ln w="12700">
            <a:solidFill>
              <a:srgbClr val="DDE3EC"/>
            </a:solidFill>
            <a:prstDash val="solid"/>
          </a:ln>
        </p:spPr>
      </p:sp>
      <p:sp>
        <p:nvSpPr>
          <p:cNvPr id="31" name="Text 29"/>
          <p:cNvSpPr txBox="1"/>
          <p:nvPr/>
        </p:nvSpPr>
        <p:spPr>
          <a:xfrm>
            <a:off x="6903720" y="5029200"/>
            <a:ext cx="4480560" cy="731520"/>
          </a:xfrm>
          <a:prstGeom prst="rect">
            <a:avLst/>
          </a:prstGeom>
          <a:noFill/>
          <a:ln/>
        </p:spPr>
        <p:txBody>
          <a:bodyPr wrap="square" lIns="0" tIns="0" rIns="0" bIns="0" rtlCol="0" anchor="ctr"/>
          <a:lstStyle/>
          <a:p>
            <a:pPr marL="0" indent="0">
              <a:buNone/>
            </a:pPr>
            <a:r>
              <a:rPr lang="en-US" sz="1250" dirty="0">
                <a:solidFill>
                  <a:srgbClr val="1F2430"/>
                </a:solidFill>
                <a:latin typeface="Calibri" pitchFamily="34" charset="0"/>
                <a:ea typeface="Calibri" pitchFamily="34" charset="-122"/>
                <a:cs typeface="Calibri" pitchFamily="34" charset="-120"/>
              </a:rPr>
              <a:t>Show one working thing, however small. A live screenshot beats three slides of claims.</a:t>
            </a:r>
            <a:endParaRPr lang="en-US" sz="1250" dirty="0"/>
          </a:p>
        </p:txBody>
      </p:sp>
      <p:sp>
        <p:nvSpPr>
          <p:cNvPr id="32" name="Text 30"/>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33" name="Text 31"/>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10</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Timeline &amp; Review Plan</a:t>
            </a:r>
            <a:endParaRPr lang="en-US" sz="3100" dirty="0"/>
          </a:p>
        </p:txBody>
      </p:sp>
      <p:sp>
        <p:nvSpPr>
          <p:cNvPr id="4" name="Shape 2"/>
          <p:cNvSpPr/>
          <p:nvPr/>
        </p:nvSpPr>
        <p:spPr>
          <a:xfrm>
            <a:off x="1645920" y="2880360"/>
            <a:ext cx="8915400" cy="0"/>
          </a:xfrm>
          <a:prstGeom prst="line">
            <a:avLst/>
          </a:prstGeom>
          <a:noFill/>
          <a:ln w="38100">
            <a:solidFill>
              <a:srgbClr val="DDE3EC"/>
            </a:solidFill>
            <a:prstDash val="solid"/>
          </a:ln>
        </p:spPr>
      </p:sp>
      <p:sp>
        <p:nvSpPr>
          <p:cNvPr id="5" name="Shape 3"/>
          <p:cNvSpPr/>
          <p:nvPr/>
        </p:nvSpPr>
        <p:spPr>
          <a:xfrm>
            <a:off x="1444752" y="2679192"/>
            <a:ext cx="402336" cy="402336"/>
          </a:xfrm>
          <a:prstGeom prst="ellipse">
            <a:avLst/>
          </a:prstGeom>
          <a:solidFill>
            <a:srgbClr val="A4161A"/>
          </a:solidFill>
          <a:ln w="25400">
            <a:solidFill>
              <a:srgbClr val="A4161A"/>
            </a:solidFill>
            <a:prstDash val="solid"/>
          </a:ln>
        </p:spPr>
      </p:sp>
      <p:sp>
        <p:nvSpPr>
          <p:cNvPr id="6" name="Text 4"/>
          <p:cNvSpPr txBox="1"/>
          <p:nvPr/>
        </p:nvSpPr>
        <p:spPr>
          <a:xfrm>
            <a:off x="457200" y="2148840"/>
            <a:ext cx="2377440" cy="320040"/>
          </a:xfrm>
          <a:prstGeom prst="rect">
            <a:avLst/>
          </a:prstGeom>
          <a:noFill/>
          <a:ln/>
        </p:spPr>
        <p:txBody>
          <a:bodyPr wrap="square" lIns="0" tIns="0" rIns="0" bIns="0" rtlCol="0" anchor="ctr"/>
          <a:lstStyle/>
          <a:p>
            <a:pPr marL="0" indent="0" algn="ctr">
              <a:buNone/>
            </a:pPr>
            <a:r>
              <a:rPr lang="en-US" sz="1500" b="1" dirty="0">
                <a:solidFill>
                  <a:srgbClr val="1B2A55"/>
                </a:solidFill>
                <a:latin typeface="Calibri" pitchFamily="34" charset="0"/>
                <a:ea typeface="Calibri" pitchFamily="34" charset="-122"/>
                <a:cs typeface="Calibri" pitchFamily="34" charset="-120"/>
              </a:rPr>
              <a:t>Review 0</a:t>
            </a:r>
            <a:endParaRPr lang="en-US" sz="1500" dirty="0"/>
          </a:p>
        </p:txBody>
      </p:sp>
      <p:sp>
        <p:nvSpPr>
          <p:cNvPr id="7" name="Text 5"/>
          <p:cNvSpPr txBox="1"/>
          <p:nvPr/>
        </p:nvSpPr>
        <p:spPr>
          <a:xfrm>
            <a:off x="457200" y="3200400"/>
            <a:ext cx="2377440" cy="274320"/>
          </a:xfrm>
          <a:prstGeom prst="rect">
            <a:avLst/>
          </a:prstGeom>
          <a:noFill/>
          <a:ln/>
        </p:spPr>
        <p:txBody>
          <a:bodyPr wrap="square" lIns="0" tIns="0" rIns="0" bIns="0" rtlCol="0" anchor="ctr"/>
          <a:lstStyle/>
          <a:p>
            <a:pPr marL="0" indent="0" algn="ctr">
              <a:buNone/>
            </a:pPr>
            <a:r>
              <a:rPr lang="en-US" sz="1200" b="1" kern="0" spc="120" dirty="0">
                <a:solidFill>
                  <a:srgbClr val="C8A02C"/>
                </a:solidFill>
                <a:latin typeface="Calibri" pitchFamily="34" charset="0"/>
                <a:ea typeface="Calibri" pitchFamily="34" charset="-122"/>
                <a:cs typeface="Calibri" pitchFamily="34" charset="-120"/>
              </a:rPr>
              <a:t>Week 2</a:t>
            </a:r>
            <a:endParaRPr lang="en-US" sz="1200" dirty="0"/>
          </a:p>
        </p:txBody>
      </p:sp>
      <p:sp>
        <p:nvSpPr>
          <p:cNvPr id="8" name="Text 6"/>
          <p:cNvSpPr txBox="1"/>
          <p:nvPr/>
        </p:nvSpPr>
        <p:spPr>
          <a:xfrm>
            <a:off x="320040" y="3520440"/>
            <a:ext cx="2651760" cy="822960"/>
          </a:xfrm>
          <a:prstGeom prst="rect">
            <a:avLst/>
          </a:prstGeom>
          <a:noFill/>
          <a:ln/>
        </p:spPr>
        <p:txBody>
          <a:bodyPr wrap="square" lIns="0" tIns="0" rIns="0" bIns="0" rtlCol="0" anchor="ctr"/>
          <a:lstStyle/>
          <a:p>
            <a:pPr marL="0" indent="0" algn="ctr">
              <a:buNone/>
            </a:pPr>
            <a:r>
              <a:rPr lang="en-US" sz="1250" dirty="0">
                <a:solidFill>
                  <a:srgbClr val="1F2430"/>
                </a:solidFill>
                <a:latin typeface="Calibri" pitchFamily="34" charset="0"/>
                <a:ea typeface="Calibri" pitchFamily="34" charset="-122"/>
                <a:cs typeface="Calibri" pitchFamily="34" charset="-120"/>
              </a:rPr>
              <a:t>Title, abstract, team roles finalised</a:t>
            </a:r>
            <a:endParaRPr lang="en-US" sz="1250" dirty="0"/>
          </a:p>
        </p:txBody>
      </p:sp>
      <p:sp>
        <p:nvSpPr>
          <p:cNvPr id="9" name="Shape 7"/>
          <p:cNvSpPr/>
          <p:nvPr/>
        </p:nvSpPr>
        <p:spPr>
          <a:xfrm>
            <a:off x="4416552" y="2679192"/>
            <a:ext cx="402336" cy="402336"/>
          </a:xfrm>
          <a:prstGeom prst="ellipse">
            <a:avLst/>
          </a:prstGeom>
          <a:solidFill>
            <a:srgbClr val="A4161A"/>
          </a:solidFill>
          <a:ln w="25400">
            <a:solidFill>
              <a:srgbClr val="A4161A"/>
            </a:solidFill>
            <a:prstDash val="solid"/>
          </a:ln>
        </p:spPr>
      </p:sp>
      <p:sp>
        <p:nvSpPr>
          <p:cNvPr id="10" name="Text 8"/>
          <p:cNvSpPr txBox="1"/>
          <p:nvPr/>
        </p:nvSpPr>
        <p:spPr>
          <a:xfrm>
            <a:off x="3429000" y="2148840"/>
            <a:ext cx="2377440" cy="320040"/>
          </a:xfrm>
          <a:prstGeom prst="rect">
            <a:avLst/>
          </a:prstGeom>
          <a:noFill/>
          <a:ln/>
        </p:spPr>
        <p:txBody>
          <a:bodyPr wrap="square" lIns="0" tIns="0" rIns="0" bIns="0" rtlCol="0" anchor="ctr"/>
          <a:lstStyle/>
          <a:p>
            <a:pPr marL="0" indent="0" algn="ctr">
              <a:buNone/>
            </a:pPr>
            <a:r>
              <a:rPr lang="en-US" sz="1500" b="1" dirty="0">
                <a:solidFill>
                  <a:srgbClr val="1B2A55"/>
                </a:solidFill>
                <a:latin typeface="Calibri" pitchFamily="34" charset="0"/>
                <a:ea typeface="Calibri" pitchFamily="34" charset="-122"/>
                <a:cs typeface="Calibri" pitchFamily="34" charset="-120"/>
              </a:rPr>
              <a:t>Review 1</a:t>
            </a:r>
            <a:endParaRPr lang="en-US" sz="1500" dirty="0"/>
          </a:p>
        </p:txBody>
      </p:sp>
      <p:sp>
        <p:nvSpPr>
          <p:cNvPr id="11" name="Text 9"/>
          <p:cNvSpPr txBox="1"/>
          <p:nvPr/>
        </p:nvSpPr>
        <p:spPr>
          <a:xfrm>
            <a:off x="3429000" y="3200400"/>
            <a:ext cx="2377440" cy="274320"/>
          </a:xfrm>
          <a:prstGeom prst="rect">
            <a:avLst/>
          </a:prstGeom>
          <a:noFill/>
          <a:ln/>
        </p:spPr>
        <p:txBody>
          <a:bodyPr wrap="square" lIns="0" tIns="0" rIns="0" bIns="0" rtlCol="0" anchor="ctr"/>
          <a:lstStyle/>
          <a:p>
            <a:pPr marL="0" indent="0" algn="ctr">
              <a:buNone/>
            </a:pPr>
            <a:r>
              <a:rPr lang="en-US" sz="1200" b="1" kern="0" spc="120" dirty="0">
                <a:solidFill>
                  <a:srgbClr val="C8A02C"/>
                </a:solidFill>
                <a:latin typeface="Calibri" pitchFamily="34" charset="0"/>
                <a:ea typeface="Calibri" pitchFamily="34" charset="-122"/>
                <a:cs typeface="Calibri" pitchFamily="34" charset="-120"/>
              </a:rPr>
              <a:t>Week 5</a:t>
            </a:r>
            <a:endParaRPr lang="en-US" sz="1200" dirty="0"/>
          </a:p>
        </p:txBody>
      </p:sp>
      <p:sp>
        <p:nvSpPr>
          <p:cNvPr id="12" name="Text 10"/>
          <p:cNvSpPr txBox="1"/>
          <p:nvPr/>
        </p:nvSpPr>
        <p:spPr>
          <a:xfrm>
            <a:off x="3291840" y="3520440"/>
            <a:ext cx="2651760" cy="822960"/>
          </a:xfrm>
          <a:prstGeom prst="rect">
            <a:avLst/>
          </a:prstGeom>
          <a:noFill/>
          <a:ln/>
        </p:spPr>
        <p:txBody>
          <a:bodyPr wrap="square" lIns="0" tIns="0" rIns="0" bIns="0" rtlCol="0" anchor="ctr"/>
          <a:lstStyle/>
          <a:p>
            <a:pPr marL="0" indent="0" algn="ctr">
              <a:buNone/>
            </a:pPr>
            <a:r>
              <a:rPr lang="en-US" sz="1250" dirty="0">
                <a:solidFill>
                  <a:srgbClr val="1F2430"/>
                </a:solidFill>
                <a:latin typeface="Calibri" pitchFamily="34" charset="0"/>
                <a:ea typeface="Calibri" pitchFamily="34" charset="-122"/>
                <a:cs typeface="Calibri" pitchFamily="34" charset="-120"/>
              </a:rPr>
              <a:t>Literature survey, gap, objectives</a:t>
            </a:r>
            <a:endParaRPr lang="en-US" sz="1250" dirty="0"/>
          </a:p>
        </p:txBody>
      </p:sp>
      <p:sp>
        <p:nvSpPr>
          <p:cNvPr id="13" name="Shape 11"/>
          <p:cNvSpPr/>
          <p:nvPr/>
        </p:nvSpPr>
        <p:spPr>
          <a:xfrm>
            <a:off x="7388352" y="2679192"/>
            <a:ext cx="402336" cy="402336"/>
          </a:xfrm>
          <a:prstGeom prst="ellipse">
            <a:avLst/>
          </a:prstGeom>
          <a:solidFill>
            <a:srgbClr val="FFFFFF"/>
          </a:solidFill>
          <a:ln w="25400">
            <a:solidFill>
              <a:srgbClr val="9AA5B8"/>
            </a:solidFill>
            <a:prstDash val="solid"/>
          </a:ln>
        </p:spPr>
      </p:sp>
      <p:sp>
        <p:nvSpPr>
          <p:cNvPr id="14" name="Text 12"/>
          <p:cNvSpPr txBox="1"/>
          <p:nvPr/>
        </p:nvSpPr>
        <p:spPr>
          <a:xfrm>
            <a:off x="6400800" y="2148840"/>
            <a:ext cx="2377440" cy="320040"/>
          </a:xfrm>
          <a:prstGeom prst="rect">
            <a:avLst/>
          </a:prstGeom>
          <a:noFill/>
          <a:ln/>
        </p:spPr>
        <p:txBody>
          <a:bodyPr wrap="square" lIns="0" tIns="0" rIns="0" bIns="0" rtlCol="0" anchor="ctr"/>
          <a:lstStyle/>
          <a:p>
            <a:pPr marL="0" indent="0" algn="ctr">
              <a:buNone/>
            </a:pPr>
            <a:r>
              <a:rPr lang="en-US" sz="1500" b="1" dirty="0">
                <a:solidFill>
                  <a:srgbClr val="1B2A55"/>
                </a:solidFill>
                <a:latin typeface="Calibri" pitchFamily="34" charset="0"/>
                <a:ea typeface="Calibri" pitchFamily="34" charset="-122"/>
                <a:cs typeface="Calibri" pitchFamily="34" charset="-120"/>
              </a:rPr>
              <a:t>Review 2</a:t>
            </a:r>
            <a:endParaRPr lang="en-US" sz="1500" dirty="0"/>
          </a:p>
        </p:txBody>
      </p:sp>
      <p:sp>
        <p:nvSpPr>
          <p:cNvPr id="15" name="Text 13"/>
          <p:cNvSpPr txBox="1"/>
          <p:nvPr/>
        </p:nvSpPr>
        <p:spPr>
          <a:xfrm>
            <a:off x="6400800" y="3200400"/>
            <a:ext cx="2377440" cy="274320"/>
          </a:xfrm>
          <a:prstGeom prst="rect">
            <a:avLst/>
          </a:prstGeom>
          <a:noFill/>
          <a:ln/>
        </p:spPr>
        <p:txBody>
          <a:bodyPr wrap="square" lIns="0" tIns="0" rIns="0" bIns="0" rtlCol="0" anchor="ctr"/>
          <a:lstStyle/>
          <a:p>
            <a:pPr marL="0" indent="0" algn="ctr">
              <a:buNone/>
            </a:pPr>
            <a:r>
              <a:rPr lang="en-US" sz="1200" b="1" kern="0" spc="120" dirty="0">
                <a:solidFill>
                  <a:srgbClr val="C8A02C"/>
                </a:solidFill>
                <a:latin typeface="Calibri" pitchFamily="34" charset="0"/>
                <a:ea typeface="Calibri" pitchFamily="34" charset="-122"/>
                <a:cs typeface="Calibri" pitchFamily="34" charset="-120"/>
              </a:rPr>
              <a:t>Week 9</a:t>
            </a:r>
            <a:endParaRPr lang="en-US" sz="1200" dirty="0"/>
          </a:p>
        </p:txBody>
      </p:sp>
      <p:sp>
        <p:nvSpPr>
          <p:cNvPr id="16" name="Text 14"/>
          <p:cNvSpPr txBox="1"/>
          <p:nvPr/>
        </p:nvSpPr>
        <p:spPr>
          <a:xfrm>
            <a:off x="6263640" y="3520440"/>
            <a:ext cx="2651760" cy="822960"/>
          </a:xfrm>
          <a:prstGeom prst="rect">
            <a:avLst/>
          </a:prstGeom>
          <a:noFill/>
          <a:ln/>
        </p:spPr>
        <p:txBody>
          <a:bodyPr wrap="square" lIns="0" tIns="0" rIns="0" bIns="0" rtlCol="0" anchor="ctr"/>
          <a:lstStyle/>
          <a:p>
            <a:pPr marL="0" indent="0" algn="ctr">
              <a:buNone/>
            </a:pPr>
            <a:r>
              <a:rPr lang="en-US" sz="1250" dirty="0">
                <a:solidFill>
                  <a:srgbClr val="1F2430"/>
                </a:solidFill>
                <a:latin typeface="Calibri" pitchFamily="34" charset="0"/>
                <a:ea typeface="Calibri" pitchFamily="34" charset="-122"/>
                <a:cs typeface="Calibri" pitchFamily="34" charset="-120"/>
              </a:rPr>
              <a:t>Architecture, 60% implementation</a:t>
            </a:r>
            <a:endParaRPr lang="en-US" sz="1250" dirty="0"/>
          </a:p>
        </p:txBody>
      </p:sp>
      <p:sp>
        <p:nvSpPr>
          <p:cNvPr id="17" name="Shape 15"/>
          <p:cNvSpPr/>
          <p:nvPr/>
        </p:nvSpPr>
        <p:spPr>
          <a:xfrm>
            <a:off x="10360152" y="2679192"/>
            <a:ext cx="402336" cy="402336"/>
          </a:xfrm>
          <a:prstGeom prst="ellipse">
            <a:avLst/>
          </a:prstGeom>
          <a:solidFill>
            <a:srgbClr val="FFFFFF"/>
          </a:solidFill>
          <a:ln w="25400">
            <a:solidFill>
              <a:srgbClr val="9AA5B8"/>
            </a:solidFill>
            <a:prstDash val="solid"/>
          </a:ln>
        </p:spPr>
      </p:sp>
      <p:sp>
        <p:nvSpPr>
          <p:cNvPr id="18" name="Text 16"/>
          <p:cNvSpPr txBox="1"/>
          <p:nvPr/>
        </p:nvSpPr>
        <p:spPr>
          <a:xfrm>
            <a:off x="9372600" y="2148840"/>
            <a:ext cx="2377440" cy="320040"/>
          </a:xfrm>
          <a:prstGeom prst="rect">
            <a:avLst/>
          </a:prstGeom>
          <a:noFill/>
          <a:ln/>
        </p:spPr>
        <p:txBody>
          <a:bodyPr wrap="square" lIns="0" tIns="0" rIns="0" bIns="0" rtlCol="0" anchor="ctr"/>
          <a:lstStyle/>
          <a:p>
            <a:pPr marL="0" indent="0" algn="ctr">
              <a:buNone/>
            </a:pPr>
            <a:r>
              <a:rPr lang="en-US" sz="1500" b="1" dirty="0">
                <a:solidFill>
                  <a:srgbClr val="1B2A55"/>
                </a:solidFill>
                <a:latin typeface="Calibri" pitchFamily="34" charset="0"/>
                <a:ea typeface="Calibri" pitchFamily="34" charset="-122"/>
                <a:cs typeface="Calibri" pitchFamily="34" charset="-120"/>
              </a:rPr>
              <a:t>Final</a:t>
            </a:r>
            <a:endParaRPr lang="en-US" sz="1500" dirty="0"/>
          </a:p>
        </p:txBody>
      </p:sp>
      <p:sp>
        <p:nvSpPr>
          <p:cNvPr id="19" name="Text 17"/>
          <p:cNvSpPr txBox="1"/>
          <p:nvPr/>
        </p:nvSpPr>
        <p:spPr>
          <a:xfrm>
            <a:off x="9372600" y="3200400"/>
            <a:ext cx="2377440" cy="274320"/>
          </a:xfrm>
          <a:prstGeom prst="rect">
            <a:avLst/>
          </a:prstGeom>
          <a:noFill/>
          <a:ln/>
        </p:spPr>
        <p:txBody>
          <a:bodyPr wrap="square" lIns="0" tIns="0" rIns="0" bIns="0" rtlCol="0" anchor="ctr"/>
          <a:lstStyle/>
          <a:p>
            <a:pPr marL="0" indent="0" algn="ctr">
              <a:buNone/>
            </a:pPr>
            <a:r>
              <a:rPr lang="en-US" sz="1200" b="1" kern="0" spc="120" dirty="0">
                <a:solidFill>
                  <a:srgbClr val="C8A02C"/>
                </a:solidFill>
                <a:latin typeface="Calibri" pitchFamily="34" charset="0"/>
                <a:ea typeface="Calibri" pitchFamily="34" charset="-122"/>
                <a:cs typeface="Calibri" pitchFamily="34" charset="-120"/>
              </a:rPr>
              <a:t>Week 14</a:t>
            </a:r>
            <a:endParaRPr lang="en-US" sz="1200" dirty="0"/>
          </a:p>
        </p:txBody>
      </p:sp>
      <p:sp>
        <p:nvSpPr>
          <p:cNvPr id="20" name="Text 18"/>
          <p:cNvSpPr txBox="1"/>
          <p:nvPr/>
        </p:nvSpPr>
        <p:spPr>
          <a:xfrm>
            <a:off x="9235440" y="3520440"/>
            <a:ext cx="2651760" cy="822960"/>
          </a:xfrm>
          <a:prstGeom prst="rect">
            <a:avLst/>
          </a:prstGeom>
          <a:noFill/>
          <a:ln/>
        </p:spPr>
        <p:txBody>
          <a:bodyPr wrap="square" lIns="0" tIns="0" rIns="0" bIns="0" rtlCol="0" anchor="ctr"/>
          <a:lstStyle/>
          <a:p>
            <a:pPr marL="0" indent="0" algn="ctr">
              <a:buNone/>
            </a:pPr>
            <a:r>
              <a:rPr lang="en-US" sz="1250" dirty="0">
                <a:solidFill>
                  <a:srgbClr val="1F2430"/>
                </a:solidFill>
                <a:latin typeface="Calibri" pitchFamily="34" charset="0"/>
                <a:ea typeface="Calibri" pitchFamily="34" charset="-122"/>
                <a:cs typeface="Calibri" pitchFamily="34" charset="-120"/>
              </a:rPr>
              <a:t>Full demo, results, report, paper draft</a:t>
            </a:r>
            <a:endParaRPr lang="en-US" sz="1250" dirty="0"/>
          </a:p>
        </p:txBody>
      </p:sp>
      <p:sp>
        <p:nvSpPr>
          <p:cNvPr id="21" name="Text 19"/>
          <p:cNvSpPr txBox="1"/>
          <p:nvPr/>
        </p:nvSpPr>
        <p:spPr>
          <a:xfrm>
            <a:off x="548640" y="4434840"/>
            <a:ext cx="11064240" cy="320040"/>
          </a:xfrm>
          <a:prstGeom prst="rect">
            <a:avLst/>
          </a:prstGeom>
          <a:noFill/>
          <a:ln/>
        </p:spPr>
        <p:txBody>
          <a:bodyPr wrap="square" lIns="0" tIns="0" rIns="0" bIns="0"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Filled circles = completed reviews. Update this slide before every review.</a:t>
            </a:r>
            <a:endParaRPr lang="en-US" sz="1200" dirty="0"/>
          </a:p>
        </p:txBody>
      </p:sp>
      <p:sp>
        <p:nvSpPr>
          <p:cNvPr id="22" name="Shape 20"/>
          <p:cNvSpPr/>
          <p:nvPr/>
        </p:nvSpPr>
        <p:spPr>
          <a:xfrm>
            <a:off x="548640" y="4937760"/>
            <a:ext cx="11064240" cy="1051560"/>
          </a:xfrm>
          <a:prstGeom prst="roundRect">
            <a:avLst>
              <a:gd name="adj" fmla="val 6957"/>
            </a:avLst>
          </a:prstGeom>
          <a:solidFill>
            <a:srgbClr val="FDF6E6"/>
          </a:solidFill>
          <a:ln w="12700">
            <a:solidFill>
              <a:srgbClr val="DDE3EC"/>
            </a:solidFill>
            <a:prstDash val="solid"/>
          </a:ln>
        </p:spPr>
      </p:sp>
      <p:sp>
        <p:nvSpPr>
          <p:cNvPr id="23" name="Text 21"/>
          <p:cNvSpPr txBox="1"/>
          <p:nvPr/>
        </p:nvSpPr>
        <p:spPr>
          <a:xfrm>
            <a:off x="868680" y="4937760"/>
            <a:ext cx="10424160" cy="1051560"/>
          </a:xfrm>
          <a:prstGeom prst="rect">
            <a:avLst/>
          </a:prstGeom>
          <a:noFill/>
          <a:ln/>
        </p:spPr>
        <p:txBody>
          <a:bodyPr wrap="square" lIns="0" tIns="0" rIns="0" bIns="0" rtlCol="0" anchor="ctr"/>
          <a:lstStyle/>
          <a:p>
            <a:pPr marL="0" indent="0">
              <a:buNone/>
            </a:pPr>
            <a:r>
              <a:rPr lang="en-US" sz="1350" b="1" dirty="0">
                <a:solidFill>
                  <a:srgbClr val="A4161A"/>
                </a:solidFill>
                <a:latin typeface="Calibri" pitchFamily="34" charset="0"/>
                <a:ea typeface="Calibri" pitchFamily="34" charset="-122"/>
                <a:cs typeface="Calibri" pitchFamily="34" charset="-120"/>
              </a:rPr>
              <a:t>What the panel checks every time:  </a:t>
            </a:r>
            <a:r>
              <a:rPr lang="en-US" sz="1350" dirty="0">
                <a:solidFill>
                  <a:srgbClr val="1F2430"/>
                </a:solidFill>
                <a:latin typeface="Calibri" pitchFamily="34" charset="0"/>
                <a:ea typeface="Calibri" pitchFamily="34" charset="-122"/>
                <a:cs typeface="Calibri" pitchFamily="34" charset="-120"/>
              </a:rPr>
              <a:t>progress since the last review, honesty of the status you claim, and whether each objective still has enough weeks left to finish.</a:t>
            </a:r>
            <a:endParaRPr lang="en-US" sz="135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11</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Expected Outcome &amp; Conclusion</a:t>
            </a:r>
            <a:endParaRPr lang="en-US" sz="3100" dirty="0"/>
          </a:p>
        </p:txBody>
      </p:sp>
      <p:sp>
        <p:nvSpPr>
          <p:cNvPr id="4" name="Shape 2"/>
          <p:cNvSpPr/>
          <p:nvPr/>
        </p:nvSpPr>
        <p:spPr>
          <a:xfrm>
            <a:off x="548640" y="1463040"/>
            <a:ext cx="3520440" cy="2194560"/>
          </a:xfrm>
          <a:prstGeom prst="roundRect">
            <a:avLst>
              <a:gd name="adj" fmla="val 3333"/>
            </a:avLst>
          </a:prstGeom>
          <a:solidFill>
            <a:srgbClr val="F1F4F9"/>
          </a:solidFill>
          <a:ln w="12700">
            <a:solidFill>
              <a:srgbClr val="DDE3EC"/>
            </a:solidFill>
            <a:prstDash val="solid"/>
          </a:ln>
        </p:spPr>
      </p:sp>
      <p:sp>
        <p:nvSpPr>
          <p:cNvPr id="5" name="Text 3"/>
          <p:cNvSpPr txBox="1"/>
          <p:nvPr/>
        </p:nvSpPr>
        <p:spPr>
          <a:xfrm>
            <a:off x="822960" y="1691640"/>
            <a:ext cx="2971800" cy="274320"/>
          </a:xfrm>
          <a:prstGeom prst="rect">
            <a:avLst/>
          </a:prstGeom>
          <a:noFill/>
          <a:ln/>
        </p:spPr>
        <p:txBody>
          <a:bodyPr wrap="square" lIns="0" tIns="0" rIns="0" bIns="0" rtlCol="0" anchor="ctr"/>
          <a:lstStyle/>
          <a:p>
            <a:pPr marL="0" indent="0">
              <a:buNone/>
            </a:pPr>
            <a:r>
              <a:rPr lang="en-US" sz="1050" b="1" kern="0" spc="150" dirty="0">
                <a:solidFill>
                  <a:srgbClr val="A4161A"/>
                </a:solidFill>
                <a:latin typeface="Calibri" pitchFamily="34" charset="0"/>
                <a:ea typeface="Calibri" pitchFamily="34" charset="-122"/>
                <a:cs typeface="Calibri" pitchFamily="34" charset="-120"/>
              </a:rPr>
              <a:t>DELIVERABLE</a:t>
            </a:r>
            <a:endParaRPr lang="en-US" sz="1050" dirty="0"/>
          </a:p>
        </p:txBody>
      </p:sp>
      <p:sp>
        <p:nvSpPr>
          <p:cNvPr id="6" name="Text 4"/>
          <p:cNvSpPr txBox="1"/>
          <p:nvPr/>
        </p:nvSpPr>
        <p:spPr>
          <a:xfrm>
            <a:off x="822960" y="2057400"/>
            <a:ext cx="2971800" cy="1371600"/>
          </a:xfrm>
          <a:prstGeom prst="rect">
            <a:avLst/>
          </a:prstGeom>
          <a:noFill/>
          <a:ln/>
        </p:spPr>
        <p:txBody>
          <a:bodyPr wrap="square" lIns="0" tIns="0" rIns="0" bIns="0" rtlCol="0" anchor="ctr"/>
          <a:lstStyle/>
          <a:p>
            <a:pPr marL="0" indent="0">
              <a:buNone/>
            </a:pPr>
            <a:r>
              <a:rPr lang="en-US" sz="1600" b="1" dirty="0">
                <a:solidFill>
                  <a:srgbClr val="1B2A55"/>
                </a:solidFill>
                <a:latin typeface="Cambria" pitchFamily="34" charset="0"/>
                <a:ea typeface="Cambria" pitchFamily="34" charset="-122"/>
                <a:cs typeface="Cambria" pitchFamily="34" charset="-120"/>
              </a:rPr>
              <a:t>A working system that reads customer reviews and automatically classifies each as positive, negative, or neutral.</a:t>
            </a:r>
            <a:endParaRPr lang="en-US" sz="1600" dirty="0"/>
          </a:p>
        </p:txBody>
      </p:sp>
      <p:sp>
        <p:nvSpPr>
          <p:cNvPr id="7" name="Shape 5"/>
          <p:cNvSpPr/>
          <p:nvPr/>
        </p:nvSpPr>
        <p:spPr>
          <a:xfrm>
            <a:off x="4297680" y="1463040"/>
            <a:ext cx="3520440" cy="2194560"/>
          </a:xfrm>
          <a:prstGeom prst="roundRect">
            <a:avLst>
              <a:gd name="adj" fmla="val 3333"/>
            </a:avLst>
          </a:prstGeom>
          <a:solidFill>
            <a:srgbClr val="1B2A55"/>
          </a:solidFill>
          <a:ln w="12700">
            <a:solidFill>
              <a:srgbClr val="1B2A55"/>
            </a:solidFill>
            <a:prstDash val="solid"/>
          </a:ln>
        </p:spPr>
      </p:sp>
      <p:sp>
        <p:nvSpPr>
          <p:cNvPr id="8" name="Text 6"/>
          <p:cNvSpPr txBox="1"/>
          <p:nvPr/>
        </p:nvSpPr>
        <p:spPr>
          <a:xfrm>
            <a:off x="4572000" y="1691640"/>
            <a:ext cx="2971800" cy="274320"/>
          </a:xfrm>
          <a:prstGeom prst="rect">
            <a:avLst/>
          </a:prstGeom>
          <a:noFill/>
          <a:ln/>
        </p:spPr>
        <p:txBody>
          <a:bodyPr wrap="square" lIns="0" tIns="0" rIns="0" bIns="0" rtlCol="0" anchor="ctr"/>
          <a:lstStyle/>
          <a:p>
            <a:pPr marL="0" indent="0">
              <a:buNone/>
            </a:pPr>
            <a:r>
              <a:rPr lang="en-US" sz="1050" b="1" kern="0" spc="150" dirty="0">
                <a:solidFill>
                  <a:srgbClr val="C8A02C"/>
                </a:solidFill>
                <a:latin typeface="Calibri" pitchFamily="34" charset="0"/>
                <a:ea typeface="Calibri" pitchFamily="34" charset="-122"/>
                <a:cs typeface="Calibri" pitchFamily="34" charset="-120"/>
              </a:rPr>
              <a:t>MEASURABLE TARGET</a:t>
            </a:r>
            <a:endParaRPr lang="en-US" sz="1050" dirty="0"/>
          </a:p>
        </p:txBody>
      </p:sp>
      <p:sp>
        <p:nvSpPr>
          <p:cNvPr id="9" name="Text 7"/>
          <p:cNvSpPr txBox="1"/>
          <p:nvPr/>
        </p:nvSpPr>
        <p:spPr>
          <a:xfrm>
            <a:off x="4572000" y="2057400"/>
            <a:ext cx="2971800" cy="13716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Best classifier achieves accuracy above 85%, with predictions returned in under 2 seconds per review.</a:t>
            </a:r>
            <a:endParaRPr lang="en-US" sz="1600" dirty="0"/>
          </a:p>
        </p:txBody>
      </p:sp>
      <p:sp>
        <p:nvSpPr>
          <p:cNvPr id="10" name="Shape 8"/>
          <p:cNvSpPr/>
          <p:nvPr/>
        </p:nvSpPr>
        <p:spPr>
          <a:xfrm>
            <a:off x="8046720" y="1463040"/>
            <a:ext cx="3520440" cy="2194560"/>
          </a:xfrm>
          <a:prstGeom prst="roundRect">
            <a:avLst>
              <a:gd name="adj" fmla="val 3333"/>
            </a:avLst>
          </a:prstGeom>
          <a:solidFill>
            <a:srgbClr val="F1F4F9"/>
          </a:solidFill>
          <a:ln w="12700">
            <a:solidFill>
              <a:srgbClr val="DDE3EC"/>
            </a:solidFill>
            <a:prstDash val="solid"/>
          </a:ln>
        </p:spPr>
      </p:sp>
      <p:sp>
        <p:nvSpPr>
          <p:cNvPr id="11" name="Text 9"/>
          <p:cNvSpPr txBox="1"/>
          <p:nvPr/>
        </p:nvSpPr>
        <p:spPr>
          <a:xfrm>
            <a:off x="8321040" y="1691640"/>
            <a:ext cx="2971800" cy="274320"/>
          </a:xfrm>
          <a:prstGeom prst="rect">
            <a:avLst/>
          </a:prstGeom>
          <a:noFill/>
          <a:ln/>
        </p:spPr>
        <p:txBody>
          <a:bodyPr wrap="square" lIns="0" tIns="0" rIns="0" bIns="0" rtlCol="0" anchor="ctr"/>
          <a:lstStyle/>
          <a:p>
            <a:pPr marL="0" indent="0">
              <a:buNone/>
            </a:pPr>
            <a:r>
              <a:rPr lang="en-US" sz="1050" b="1" kern="0" spc="150" dirty="0">
                <a:solidFill>
                  <a:srgbClr val="A4161A"/>
                </a:solidFill>
                <a:latin typeface="Calibri" pitchFamily="34" charset="0"/>
                <a:ea typeface="Calibri" pitchFamily="34" charset="-122"/>
                <a:cs typeface="Calibri" pitchFamily="34" charset="-120"/>
              </a:rPr>
              <a:t>BEYOND THE LAB</a:t>
            </a:r>
            <a:endParaRPr lang="en-US" sz="1050" dirty="0"/>
          </a:p>
        </p:txBody>
      </p:sp>
      <p:sp>
        <p:nvSpPr>
          <p:cNvPr id="12" name="Text 10"/>
          <p:cNvSpPr txBox="1"/>
          <p:nvPr/>
        </p:nvSpPr>
        <p:spPr>
          <a:xfrm>
            <a:off x="8321040" y="2057400"/>
            <a:ext cx="2971800" cy="1371600"/>
          </a:xfrm>
          <a:prstGeom prst="rect">
            <a:avLst/>
          </a:prstGeom>
          <a:noFill/>
          <a:ln/>
        </p:spPr>
        <p:txBody>
          <a:bodyPr wrap="square" lIns="0" tIns="0" rIns="0" bIns="0" rtlCol="0" anchor="ctr"/>
          <a:lstStyle/>
          <a:p>
            <a:pPr marL="0" indent="0">
              <a:buNone/>
            </a:pPr>
            <a:r>
              <a:rPr lang="en-US" sz="1600" b="1" dirty="0">
                <a:solidFill>
                  <a:srgbClr val="1B2A55"/>
                </a:solidFill>
                <a:latin typeface="Cambria" pitchFamily="34" charset="0"/>
                <a:ea typeface="Cambria" pitchFamily="34" charset="-122"/>
                <a:cs typeface="Cambria" pitchFamily="34" charset="-120"/>
              </a:rPr>
              <a:t>Any e-commerce or service business can plug in their own review data to track customer satisfaction over time.</a:t>
            </a:r>
            <a:endParaRPr lang="en-US" sz="1600" dirty="0"/>
          </a:p>
        </p:txBody>
      </p:sp>
      <p:sp>
        <p:nvSpPr>
          <p:cNvPr id="13" name="Shape 11"/>
          <p:cNvSpPr/>
          <p:nvPr/>
        </p:nvSpPr>
        <p:spPr>
          <a:xfrm>
            <a:off x="548640" y="3931920"/>
            <a:ext cx="11064240" cy="1920240"/>
          </a:xfrm>
          <a:prstGeom prst="roundRect">
            <a:avLst>
              <a:gd name="adj" fmla="val 3810"/>
            </a:avLst>
          </a:prstGeom>
          <a:solidFill>
            <a:srgbClr val="F1F4F9"/>
          </a:solidFill>
          <a:ln w="12700">
            <a:solidFill>
              <a:srgbClr val="DDE3EC"/>
            </a:solidFill>
            <a:prstDash val="solid"/>
          </a:ln>
        </p:spPr>
      </p:sp>
      <p:sp>
        <p:nvSpPr>
          <p:cNvPr id="14" name="Text 12"/>
          <p:cNvSpPr txBox="1"/>
          <p:nvPr/>
        </p:nvSpPr>
        <p:spPr>
          <a:xfrm>
            <a:off x="868680" y="4160520"/>
            <a:ext cx="10424160" cy="274320"/>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CONCLUSION</a:t>
            </a:r>
            <a:endParaRPr lang="en-US" sz="1050" dirty="0"/>
          </a:p>
        </p:txBody>
      </p:sp>
      <p:sp>
        <p:nvSpPr>
          <p:cNvPr id="15" name="Text 13"/>
          <p:cNvSpPr txBox="1"/>
          <p:nvPr/>
        </p:nvSpPr>
        <p:spPr>
          <a:xfrm>
            <a:off x="868680" y="4480560"/>
            <a:ext cx="10424160" cy="1188720"/>
          </a:xfrm>
          <a:prstGeom prst="rect">
            <a:avLst/>
          </a:prstGeom>
          <a:noFill/>
          <a:ln/>
        </p:spPr>
        <p:txBody>
          <a:bodyPr wrap="square" lIns="0" tIns="0" rIns="0" bIns="0" rtlCol="0" anchor="ctr"/>
          <a:lstStyle/>
          <a:p>
            <a:pPr marL="0" indent="0">
              <a:buNone/>
            </a:pPr>
            <a:r>
              <a:rPr lang="en-US" sz="1450" dirty="0">
                <a:solidFill>
                  <a:srgbClr val="1F2430"/>
                </a:solidFill>
                <a:latin typeface="Calibri" pitchFamily="34" charset="0"/>
                <a:ea typeface="Calibri" pitchFamily="34" charset="-122"/>
                <a:cs typeface="Calibri" pitchFamily="34" charset="-120"/>
              </a:rPr>
              <a:t>Customer reviews are growing too fast to read manually, and existing studies rarely compare classifiers or offer a usable interface. This project builds and compares multiple ML models for sentiment classification and presents results through a simple dashboard. Future scope: extending the system to detect specific aspects mentioned in a review, such as price or delivery time, is left for later work.</a:t>
            </a:r>
            <a:endParaRPr lang="en-US" sz="1450" dirty="0"/>
          </a:p>
        </p:txBody>
      </p:sp>
      <p:sp>
        <p:nvSpPr>
          <p:cNvPr id="16" name="Text 14"/>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7" name="Text 15"/>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12</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References</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IEEE style, numbered in the order they are cited in the slides. Minimum 8 references for a minor project - these are format examples only.</a:t>
            </a:r>
            <a:endParaRPr lang="en-US" sz="1050" dirty="0"/>
          </a:p>
        </p:txBody>
      </p:sp>
      <p:sp>
        <p:nvSpPr>
          <p:cNvPr id="5" name="Shape 3"/>
          <p:cNvSpPr/>
          <p:nvPr/>
        </p:nvSpPr>
        <p:spPr>
          <a:xfrm>
            <a:off x="548640" y="1572768"/>
            <a:ext cx="11064240" cy="3657600"/>
          </a:xfrm>
          <a:prstGeom prst="roundRect">
            <a:avLst>
              <a:gd name="adj" fmla="val 2000"/>
            </a:avLst>
          </a:prstGeom>
          <a:solidFill>
            <a:srgbClr val="F1F4F9"/>
          </a:solidFill>
          <a:ln w="12700">
            <a:solidFill>
              <a:srgbClr val="DDE3EC"/>
            </a:solidFill>
            <a:prstDash val="solid"/>
          </a:ln>
        </p:spPr>
      </p:sp>
      <p:sp>
        <p:nvSpPr>
          <p:cNvPr id="6" name="Text 4"/>
          <p:cNvSpPr txBox="1"/>
          <p:nvPr/>
        </p:nvSpPr>
        <p:spPr>
          <a:xfrm>
            <a:off x="868680" y="1783080"/>
            <a:ext cx="10424160" cy="3246120"/>
          </a:xfrm>
          <a:prstGeom prst="rect">
            <a:avLst/>
          </a:prstGeom>
          <a:noFill/>
          <a:ln/>
        </p:spPr>
        <p:txBody>
          <a:bodyPr wrap="square" lIns="0" tIns="0" rIns="0" bIns="0" rtlCol="0" anchor="ctr"/>
          <a:lstStyle/>
          <a:p>
            <a:pPr marL="0" indent="0">
              <a:spcAft>
                <a:spcPts val="1200"/>
              </a:spcAft>
              <a:buNone/>
            </a:pPr>
            <a:r>
              <a:rPr lang="en-US" sz="1300" dirty="0">
                <a:solidFill>
                  <a:srgbClr val="1F2430"/>
                </a:solidFill>
                <a:latin typeface="Calibri" pitchFamily="34" charset="0"/>
                <a:ea typeface="Calibri" pitchFamily="34" charset="-122"/>
                <a:cs typeface="Calibri" pitchFamily="34" charset="-120"/>
              </a:rPr>
              <a:t>[1]  R. S. Monsoor, T. S. Tamanna, S. Khan, S. Hoque, M. Islam, E. R. Rhythm, M. H. K. Mehedi and A. A. Rasel, "Sentiment Analysis of Amazon Reviews Using Machine Learning Classifier," in Proc. 26th Int. Conf. on Computer and Information Technology (ICCIT), Cox's Bazar, Bangladesh, 2023, doi: 10.1109/ICCIT60459.2023.10441259.</a:t>
            </a:r>
            <a:endParaRPr lang="en-US" sz="1300" dirty="0"/>
          </a:p>
          <a:p>
            <a:pPr marL="0" indent="0">
              <a:spcAft>
                <a:spcPts val="1200"/>
              </a:spcAft>
              <a:buNone/>
            </a:pPr>
            <a:r>
              <a:rPr lang="en-US" sz="1300" dirty="0">
                <a:solidFill>
                  <a:srgbClr val="1F2430"/>
                </a:solidFill>
                <a:latin typeface="Calibri" pitchFamily="34" charset="0"/>
                <a:ea typeface="Calibri" pitchFamily="34" charset="-122"/>
                <a:cs typeface="Calibri" pitchFamily="34" charset="-120"/>
              </a:rPr>
              <a:t>[2]  G. Chauhan, A. Sharma and N. Dwivedi, "Amazon Product Reviews Sentimental Analysis using Machine Learning," in Proc. IEEE Int. Conf. on Computing, Power and Communication Technologies (IC2PCT), 2024, doi: 10.1109/IC2PCT60090.2024.10486258.</a:t>
            </a:r>
            <a:endParaRPr lang="en-US" sz="1300" dirty="0"/>
          </a:p>
          <a:p>
            <a:pPr marL="0" indent="0">
              <a:spcAft>
                <a:spcPts val="1200"/>
              </a:spcAft>
              <a:buNone/>
            </a:pPr>
            <a:r>
              <a:rPr lang="en-US" sz="1300" dirty="0">
                <a:solidFill>
                  <a:srgbClr val="1F2430"/>
                </a:solidFill>
                <a:latin typeface="Calibri" pitchFamily="34" charset="0"/>
                <a:ea typeface="Calibri" pitchFamily="34" charset="-122"/>
                <a:cs typeface="Calibri" pitchFamily="34" charset="-120"/>
              </a:rPr>
              <a:t>[3]  Y. Mamani-Coaquira and E. Villanueva, "A Review on Text Sentiment Analysis With Machine Learning and Deep Learning Techniques," IEEE Access, vol. 12, pp. 193115-193130, 2024.</a:t>
            </a:r>
            <a:endParaRPr lang="en-US" sz="1300" dirty="0"/>
          </a:p>
          <a:p>
            <a:pPr marL="0" indent="0">
              <a:spcAft>
                <a:spcPts val="1200"/>
              </a:spcAft>
              <a:buNone/>
            </a:pPr>
            <a:r>
              <a:rPr lang="en-US" sz="1300" dirty="0">
                <a:solidFill>
                  <a:srgbClr val="1F2430"/>
                </a:solidFill>
                <a:latin typeface="Calibri" pitchFamily="34" charset="0"/>
                <a:ea typeface="Calibri" pitchFamily="34" charset="-122"/>
                <a:cs typeface="Calibri" pitchFamily="34" charset="-120"/>
              </a:rPr>
              <a:t>[4]  L. Ashbaugh and Y. Zhang, "A Comparative Study of Sentiment Analysis on Customer Reviews Using Machine Learning and Deep Learning," Computers, vol. 13, no. 12, p. 340, 2024.</a:t>
            </a:r>
            <a:endParaRPr lang="en-US" sz="1300" dirty="0"/>
          </a:p>
          <a:p>
            <a:pPr marL="0" indent="0">
              <a:spcAft>
                <a:spcPts val="1200"/>
              </a:spcAft>
              <a:buNone/>
            </a:pPr>
            <a:r>
              <a:rPr lang="en-US" sz="1300" dirty="0">
                <a:solidFill>
                  <a:srgbClr val="1F2430"/>
                </a:solidFill>
                <a:latin typeface="Calibri" pitchFamily="34" charset="0"/>
                <a:ea typeface="Calibri" pitchFamily="34" charset="-122"/>
                <a:cs typeface="Calibri" pitchFamily="34" charset="-120"/>
              </a:rPr>
              <a:t>[5]  D. Dua and C. Graff, "UCI Machine Learning Repository," University of California, Irvine, 2023. [Online]. Available: https://archive.ics.uci.edu [Accessed: 10-Sep-2026].</a:t>
            </a:r>
            <a:endParaRPr lang="en-US" sz="1300" dirty="0"/>
          </a:p>
        </p:txBody>
      </p:sp>
      <p:sp>
        <p:nvSpPr>
          <p:cNvPr id="7" name="Text 5"/>
          <p:cNvSpPr txBox="1"/>
          <p:nvPr/>
        </p:nvSpPr>
        <p:spPr>
          <a:xfrm>
            <a:off x="548640" y="5440680"/>
            <a:ext cx="11064240" cy="365760"/>
          </a:xfrm>
          <a:prstGeom prst="rect">
            <a:avLst/>
          </a:prstGeom>
          <a:noFill/>
          <a:ln/>
        </p:spPr>
        <p:txBody>
          <a:bodyPr wrap="square" lIns="0" tIns="0" rIns="0" bIns="0" rtlCol="0" anchor="ctr"/>
          <a:lstStyle/>
          <a:p>
            <a:pPr marL="0" indent="0">
              <a:buNone/>
            </a:pPr>
            <a:r>
              <a:rPr lang="en-US" sz="1250" b="1" i="1" dirty="0">
                <a:solidFill>
                  <a:srgbClr val="A4161A"/>
                </a:solidFill>
                <a:latin typeface="Calibri" pitchFamily="34" charset="0"/>
                <a:ea typeface="Calibri" pitchFamily="34" charset="-122"/>
                <a:cs typeface="Calibri" pitchFamily="34" charset="-120"/>
              </a:rPr>
              <a:t>Every reference listed here must appear in the literature survey table, and every row of that table must appear here.</a:t>
            </a:r>
            <a:endParaRPr lang="en-US" sz="1250" dirty="0"/>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9" name="Text 7"/>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1B3A"/>
        </a:solidFill>
        <a:effectLst/>
      </p:bgPr>
    </p:bg>
    <p:spTree>
      <p:nvGrpSpPr>
        <p:cNvPr id="1" name=""/>
        <p:cNvGrpSpPr/>
        <p:nvPr/>
      </p:nvGrpSpPr>
      <p:grpSpPr>
        <a:xfrm>
          <a:off x="0" y="0"/>
          <a:ext cx="0" cy="0"/>
          <a:chOff x="0" y="0"/>
          <a:chExt cx="0" cy="0"/>
        </a:xfrm>
      </p:grpSpPr>
      <p:sp>
        <p:nvSpPr>
          <p:cNvPr id="2" name="Text 0"/>
          <p:cNvSpPr txBox="1"/>
          <p:nvPr/>
        </p:nvSpPr>
        <p:spPr>
          <a:xfrm>
            <a:off x="822960" y="2103120"/>
            <a:ext cx="10515600" cy="100584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3" name="Text 1"/>
          <p:cNvSpPr txBox="1"/>
          <p:nvPr/>
        </p:nvSpPr>
        <p:spPr>
          <a:xfrm>
            <a:off x="822960" y="3154680"/>
            <a:ext cx="10515600" cy="457200"/>
          </a:xfrm>
          <a:prstGeom prst="rect">
            <a:avLst/>
          </a:prstGeom>
          <a:noFill/>
          <a:ln/>
        </p:spPr>
        <p:txBody>
          <a:bodyPr wrap="square" lIns="0" tIns="0" rIns="0" bIns="0" rtlCol="0" anchor="ctr"/>
          <a:lstStyle/>
          <a:p>
            <a:pPr marL="0" indent="0">
              <a:buNone/>
            </a:pPr>
            <a:r>
              <a:rPr lang="en-US" sz="2000" dirty="0">
                <a:solidFill>
                  <a:srgbClr val="C8A02C"/>
                </a:solidFill>
                <a:latin typeface="Calibri" pitchFamily="34" charset="0"/>
                <a:ea typeface="Calibri" pitchFamily="34" charset="-122"/>
                <a:cs typeface="Calibri" pitchFamily="34" charset="-120"/>
              </a:rPr>
              <a:t>Questions &amp; Suggestions</a:t>
            </a:r>
            <a:endParaRPr lang="en-US" sz="2000" dirty="0"/>
          </a:p>
        </p:txBody>
      </p:sp>
      <p:sp>
        <p:nvSpPr>
          <p:cNvPr id="4" name="Shape 2"/>
          <p:cNvSpPr/>
          <p:nvPr/>
        </p:nvSpPr>
        <p:spPr>
          <a:xfrm>
            <a:off x="822960" y="3977640"/>
            <a:ext cx="2926080" cy="0"/>
          </a:xfrm>
          <a:prstGeom prst="line">
            <a:avLst/>
          </a:prstGeom>
          <a:noFill/>
          <a:ln w="25400">
            <a:solidFill>
              <a:srgbClr val="2E3F6E"/>
            </a:solidFill>
            <a:prstDash val="solid"/>
          </a:ln>
        </p:spPr>
      </p:sp>
      <p:sp>
        <p:nvSpPr>
          <p:cNvPr id="5" name="Text 3"/>
          <p:cNvSpPr txBox="1"/>
          <p:nvPr/>
        </p:nvSpPr>
        <p:spPr>
          <a:xfrm>
            <a:off x="822960" y="4251960"/>
            <a:ext cx="10515600" cy="365760"/>
          </a:xfrm>
          <a:prstGeom prst="rect">
            <a:avLst/>
          </a:prstGeom>
          <a:noFill/>
          <a:ln/>
        </p:spPr>
        <p:txBody>
          <a:bodyPr wrap="square" lIns="0" tIns="0" rIns="0" bIns="0" rtlCol="0" anchor="ctr"/>
          <a:lstStyle/>
          <a:p>
            <a:pPr marL="0" indent="0">
              <a:buNone/>
            </a:pPr>
            <a:r>
              <a:rPr lang="en-US" sz="1400" dirty="0">
                <a:solidFill>
                  <a:srgbClr val="AEBBD6"/>
                </a:solidFill>
                <a:latin typeface="Calibri" pitchFamily="34" charset="0"/>
                <a:ea typeface="Calibri" pitchFamily="34" charset="-122"/>
                <a:cs typeface="Calibri" pitchFamily="34" charset="-120"/>
              </a:rPr>
              <a:t>Team: Suggula Sri Vishnupriya, Vungarala Mouktika   |   Guide: Mr. Gunturi S Raghavendra   |   Dept. of CSE, KLH Bachupally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2213</Words>
  <Application>Microsoft Office PowerPoint</Application>
  <PresentationFormat>Widescreen</PresentationFormat>
  <Paragraphs>284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Minor Project - Model Review Presentation</dc:title>
  <dc:subject>PptxGenJS Presentation</dc:subject>
  <dc:creator>Dept. of CSE, KLH Bachupally</dc:creator>
  <cp:lastModifiedBy>suggula sri vishnupriya</cp:lastModifiedBy>
  <cp:revision>2</cp:revision>
  <dcterms:created xsi:type="dcterms:W3CDTF">2026-09-16T05:47:29Z</dcterms:created>
  <dcterms:modified xsi:type="dcterms:W3CDTF">2026-09-17T04:41:13Z</dcterms:modified>
</cp:coreProperties>
</file>